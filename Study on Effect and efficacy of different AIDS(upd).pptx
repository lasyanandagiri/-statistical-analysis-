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9"/>
  </p:notesMasterIdLst>
  <p:handoutMasterIdLst>
    <p:handoutMasterId r:id="rId20"/>
  </p:handoutMasterIdLst>
  <p:sldIdLst>
    <p:sldId id="256" r:id="rId5"/>
    <p:sldId id="271" r:id="rId6"/>
    <p:sldId id="272" r:id="rId7"/>
    <p:sldId id="273" r:id="rId8"/>
    <p:sldId id="274" r:id="rId9"/>
    <p:sldId id="275" r:id="rId10"/>
    <p:sldId id="276" r:id="rId11"/>
    <p:sldId id="277" r:id="rId12"/>
    <p:sldId id="281" r:id="rId13"/>
    <p:sldId id="278" r:id="rId14"/>
    <p:sldId id="282" r:id="rId15"/>
    <p:sldId id="279" r:id="rId16"/>
    <p:sldId id="283"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325" autoAdjust="0"/>
  </p:normalViewPr>
  <p:slideViewPr>
    <p:cSldViewPr snapToGrid="0">
      <p:cViewPr varScale="1">
        <p:scale>
          <a:sx n="89" d="100"/>
          <a:sy n="89" d="100"/>
        </p:scale>
        <p:origin x="466" y="77"/>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0A0375-8D9D-425E-9DA3-657E269DB565}"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BDC5F13E-9E6A-4EF8-BFFB-C62C9DA403E7}">
      <dgm:prSet phldrT="[Text]" custT="1"/>
      <dgm:spPr>
        <a:solidFill>
          <a:schemeClr val="tx1">
            <a:lumMod val="65000"/>
            <a:lumOff val="35000"/>
          </a:schemeClr>
        </a:solidFill>
      </dgm:spPr>
      <dgm:t>
        <a:bodyPr/>
        <a:lstStyle/>
        <a:p>
          <a:r>
            <a:rPr lang="en-US" sz="1600" dirty="0"/>
            <a:t>Data Selection</a:t>
          </a:r>
        </a:p>
      </dgm:t>
    </dgm:pt>
    <dgm:pt modelId="{38BE10AE-2F1A-4D64-93C8-3EA7507A0108}" type="parTrans" cxnId="{EA18EC25-254D-46B9-81BC-F251664D9305}">
      <dgm:prSet/>
      <dgm:spPr/>
      <dgm:t>
        <a:bodyPr/>
        <a:lstStyle/>
        <a:p>
          <a:endParaRPr lang="en-US" sz="1600"/>
        </a:p>
      </dgm:t>
    </dgm:pt>
    <dgm:pt modelId="{856CF4BE-B25B-4BA1-8FAC-73542866E25F}" type="sibTrans" cxnId="{EA18EC25-254D-46B9-81BC-F251664D9305}">
      <dgm:prSet/>
      <dgm:spPr/>
      <dgm:t>
        <a:bodyPr/>
        <a:lstStyle/>
        <a:p>
          <a:endParaRPr lang="en-US" sz="1600"/>
        </a:p>
      </dgm:t>
    </dgm:pt>
    <dgm:pt modelId="{727C758D-6263-4DF5-B29C-C349AF42FD3B}">
      <dgm:prSet phldrT="[Text]" custT="1"/>
      <dgm:spPr/>
      <dgm:t>
        <a:bodyPr/>
        <a:lstStyle/>
        <a:p>
          <a:r>
            <a:rPr lang="en-US" sz="1600" dirty="0"/>
            <a:t>Formulation of Research Problem</a:t>
          </a:r>
        </a:p>
      </dgm:t>
    </dgm:pt>
    <dgm:pt modelId="{1311A23D-A719-41F5-B95B-421564569D49}" type="parTrans" cxnId="{12912C90-EE18-4D26-8097-39B2102B5F85}">
      <dgm:prSet/>
      <dgm:spPr/>
      <dgm:t>
        <a:bodyPr/>
        <a:lstStyle/>
        <a:p>
          <a:endParaRPr lang="en-US" sz="1600"/>
        </a:p>
      </dgm:t>
    </dgm:pt>
    <dgm:pt modelId="{6FC3908A-142C-46BB-852A-5CE66202D7AF}" type="sibTrans" cxnId="{12912C90-EE18-4D26-8097-39B2102B5F85}">
      <dgm:prSet/>
      <dgm:spPr>
        <a:gradFill rotWithShape="0">
          <a:gsLst>
            <a:gs pos="0">
              <a:srgbClr val="4472C4">
                <a:tint val="60000"/>
                <a:hueOff val="0"/>
                <a:satOff val="0"/>
                <a:lumOff val="0"/>
                <a:alphaOff val="0"/>
                <a:satMod val="103000"/>
                <a:lumMod val="102000"/>
                <a:tint val="94000"/>
              </a:srgbClr>
            </a:gs>
            <a:gs pos="50000">
              <a:srgbClr val="4472C4">
                <a:tint val="60000"/>
                <a:hueOff val="0"/>
                <a:satOff val="0"/>
                <a:lumOff val="0"/>
                <a:alphaOff val="0"/>
                <a:satMod val="110000"/>
                <a:lumMod val="100000"/>
                <a:shade val="100000"/>
              </a:srgbClr>
            </a:gs>
            <a:gs pos="100000">
              <a:srgbClr val="4472C4">
                <a:tint val="60000"/>
                <a:hueOff val="0"/>
                <a:satOff val="0"/>
                <a:lumOff val="0"/>
                <a:alphaOff val="0"/>
                <a:lumMod val="99000"/>
                <a:satMod val="120000"/>
                <a:shade val="78000"/>
              </a:srgbClr>
            </a:gs>
          </a:gsLst>
          <a:lin ang="5400000" scaled="0"/>
        </a:gradFill>
        <a:ln>
          <a:noFill/>
        </a:ln>
        <a:effectLst/>
      </dgm:spPr>
      <dgm:t>
        <a:bodyPr/>
        <a:lstStyle/>
        <a:p>
          <a:endParaRPr lang="en-US" sz="1600"/>
        </a:p>
      </dgm:t>
    </dgm:pt>
    <dgm:pt modelId="{195C33F5-0E79-41F7-8A89-7F2CF0E61961}">
      <dgm:prSet phldrT="[Text]" custT="1"/>
      <dgm:spPr>
        <a:solidFill>
          <a:schemeClr val="tx1">
            <a:lumMod val="65000"/>
            <a:lumOff val="35000"/>
          </a:schemeClr>
        </a:solidFill>
      </dgm:spPr>
      <dgm:t>
        <a:bodyPr/>
        <a:lstStyle/>
        <a:p>
          <a:r>
            <a:rPr lang="en-US" sz="1600" dirty="0"/>
            <a:t>EDA in the context of the Research Problem</a:t>
          </a:r>
        </a:p>
      </dgm:t>
    </dgm:pt>
    <dgm:pt modelId="{4433B628-2B75-4331-BFF9-7887A9A5861A}" type="parTrans" cxnId="{A7F5AF62-04FA-4EE2-80CD-9C060FBFCDB3}">
      <dgm:prSet/>
      <dgm:spPr/>
      <dgm:t>
        <a:bodyPr/>
        <a:lstStyle/>
        <a:p>
          <a:endParaRPr lang="en-US" sz="1600"/>
        </a:p>
      </dgm:t>
    </dgm:pt>
    <dgm:pt modelId="{EEAE7387-463E-4C65-A36A-2C986758300B}" type="sibTrans" cxnId="{A7F5AF62-04FA-4EE2-80CD-9C060FBFCDB3}">
      <dgm:prSet/>
      <dgm:spPr/>
      <dgm:t>
        <a:bodyPr/>
        <a:lstStyle/>
        <a:p>
          <a:endParaRPr lang="en-US" sz="1600"/>
        </a:p>
      </dgm:t>
    </dgm:pt>
    <dgm:pt modelId="{118EAD3C-C358-48A0-994B-2B26130C08E1}">
      <dgm:prSet phldrT="[Text]" custT="1"/>
      <dgm:spPr>
        <a:solidFill>
          <a:prstClr val="black">
            <a:lumMod val="65000"/>
            <a:lumOff val="35000"/>
          </a:prstClr>
        </a:soli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Perform necessary Data Cleaning and Transformations</a:t>
          </a:r>
        </a:p>
      </dgm:t>
    </dgm:pt>
    <dgm:pt modelId="{79A6B526-75C7-4A8E-BCD4-4738DA8ADBD4}" type="parTrans" cxnId="{94F2DC6D-2639-4E9C-8517-0410C61222B2}">
      <dgm:prSet/>
      <dgm:spPr/>
      <dgm:t>
        <a:bodyPr/>
        <a:lstStyle/>
        <a:p>
          <a:endParaRPr lang="en-US" sz="1600"/>
        </a:p>
      </dgm:t>
    </dgm:pt>
    <dgm:pt modelId="{1185CA82-0CED-4276-A636-9A2D52578EDF}" type="sibTrans" cxnId="{94F2DC6D-2639-4E9C-8517-0410C61222B2}">
      <dgm:prSet/>
      <dgm:spPr/>
      <dgm:t>
        <a:bodyPr/>
        <a:lstStyle/>
        <a:p>
          <a:endParaRPr lang="en-US" sz="1600"/>
        </a:p>
      </dgm:t>
    </dgm:pt>
    <dgm:pt modelId="{87BACD54-77FD-48D0-8511-F3414759D39F}">
      <dgm:prSet phldrT="[Text]" custT="1"/>
      <dgm:spPr>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Identification of right statistical tests for the study</a:t>
          </a:r>
        </a:p>
      </dgm:t>
    </dgm:pt>
    <dgm:pt modelId="{8A554ED4-2BE4-4998-85FF-A0DBCE0C2200}" type="parTrans" cxnId="{E91CA05C-C8CA-4BC4-90EA-8E0E0C2B5D65}">
      <dgm:prSet/>
      <dgm:spPr/>
      <dgm:t>
        <a:bodyPr/>
        <a:lstStyle/>
        <a:p>
          <a:endParaRPr lang="en-US" sz="1600"/>
        </a:p>
      </dgm:t>
    </dgm:pt>
    <dgm:pt modelId="{330A25B0-D0A9-4B5D-9A99-7A1B01D8BF7A}" type="sibTrans" cxnId="{E91CA05C-C8CA-4BC4-90EA-8E0E0C2B5D65}">
      <dgm:prSet/>
      <dgm:spPr/>
      <dgm:t>
        <a:bodyPr/>
        <a:lstStyle/>
        <a:p>
          <a:endParaRPr lang="en-US" sz="1600"/>
        </a:p>
      </dgm:t>
    </dgm:pt>
    <dgm:pt modelId="{326A3EF5-3C55-402A-9BDF-79A7AD7ED691}">
      <dgm:prSet phldrT="[Text]" custT="1"/>
      <dgm:spPr>
        <a:solidFill>
          <a:prstClr val="black">
            <a:lumMod val="65000"/>
            <a:lumOff val="35000"/>
          </a:prstClr>
        </a:soli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Perform the tests post stringent conditions verification for the test</a:t>
          </a:r>
        </a:p>
      </dgm:t>
    </dgm:pt>
    <dgm:pt modelId="{7C18EABC-26AA-4A8A-8F1E-30D4652F5326}" type="parTrans" cxnId="{96B239C1-F6AC-405C-A7E8-2D15698CDD1B}">
      <dgm:prSet/>
      <dgm:spPr/>
      <dgm:t>
        <a:bodyPr/>
        <a:lstStyle/>
        <a:p>
          <a:endParaRPr lang="en-US" sz="1600"/>
        </a:p>
      </dgm:t>
    </dgm:pt>
    <dgm:pt modelId="{C39A6C9D-2A16-4163-B53E-FCABAB9C4063}" type="sibTrans" cxnId="{96B239C1-F6AC-405C-A7E8-2D15698CDD1B}">
      <dgm:prSet/>
      <dgm:spPr/>
      <dgm:t>
        <a:bodyPr/>
        <a:lstStyle/>
        <a:p>
          <a:endParaRPr lang="en-US" sz="1600"/>
        </a:p>
      </dgm:t>
    </dgm:pt>
    <dgm:pt modelId="{B8D3B712-F29E-4897-AD0C-4AE6C6B6ED5B}">
      <dgm:prSet phldrT="[Text]" custT="1"/>
      <dgm:spPr>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Conclusion from the tests</a:t>
          </a:r>
        </a:p>
      </dgm:t>
    </dgm:pt>
    <dgm:pt modelId="{B99DE702-D323-4C7A-8517-43212DE7C8E8}" type="parTrans" cxnId="{7363C104-AF92-4D33-853A-9CE6B7533C13}">
      <dgm:prSet/>
      <dgm:spPr/>
      <dgm:t>
        <a:bodyPr/>
        <a:lstStyle/>
        <a:p>
          <a:endParaRPr lang="en-US" sz="1600"/>
        </a:p>
      </dgm:t>
    </dgm:pt>
    <dgm:pt modelId="{F36C947C-1692-4CF4-8B03-83CAD046678D}" type="sibTrans" cxnId="{7363C104-AF92-4D33-853A-9CE6B7533C13}">
      <dgm:prSet/>
      <dgm:spPr/>
      <dgm:t>
        <a:bodyPr/>
        <a:lstStyle/>
        <a:p>
          <a:endParaRPr lang="en-US" sz="1600"/>
        </a:p>
      </dgm:t>
    </dgm:pt>
    <dgm:pt modelId="{29618ED5-A8F6-426D-A8AA-6B04DA1C305D}">
      <dgm:prSet phldrT="[Text]" custT="1"/>
      <dgm:spPr>
        <a:solidFill>
          <a:prstClr val="black">
            <a:lumMod val="65000"/>
            <a:lumOff val="35000"/>
          </a:prstClr>
        </a:soli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Presentation to the Audience</a:t>
          </a:r>
        </a:p>
      </dgm:t>
    </dgm:pt>
    <dgm:pt modelId="{BF0442B1-540B-4C95-B697-3E7A2500CB2F}" type="parTrans" cxnId="{74256FAF-2797-46F3-932E-908C71672E2E}">
      <dgm:prSet/>
      <dgm:spPr/>
      <dgm:t>
        <a:bodyPr/>
        <a:lstStyle/>
        <a:p>
          <a:endParaRPr lang="en-US"/>
        </a:p>
      </dgm:t>
    </dgm:pt>
    <dgm:pt modelId="{C00EC1F2-2E9F-4D25-AB5B-1D260A2FE86B}" type="sibTrans" cxnId="{74256FAF-2797-46F3-932E-908C71672E2E}">
      <dgm:prSet/>
      <dgm:spPr/>
      <dgm:t>
        <a:bodyPr/>
        <a:lstStyle/>
        <a:p>
          <a:endParaRPr lang="en-US"/>
        </a:p>
      </dgm:t>
    </dgm:pt>
    <dgm:pt modelId="{785FB521-4474-4934-830C-4EA8C8242676}">
      <dgm:prSet phldrT="[Text]" custT="1"/>
      <dgm:spPr>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Refine the Research problem based on EDA</a:t>
          </a:r>
        </a:p>
      </dgm:t>
    </dgm:pt>
    <dgm:pt modelId="{EAEF7213-23B9-4128-A99A-E8252A33789D}" type="parTrans" cxnId="{10F1459D-8C2C-4ED5-B940-03893E732AE3}">
      <dgm:prSet/>
      <dgm:spPr/>
      <dgm:t>
        <a:bodyPr/>
        <a:lstStyle/>
        <a:p>
          <a:endParaRPr lang="en-US"/>
        </a:p>
      </dgm:t>
    </dgm:pt>
    <dgm:pt modelId="{663B3193-1EB0-408A-AED0-4000FEB69ED7}" type="sibTrans" cxnId="{10F1459D-8C2C-4ED5-B940-03893E732AE3}">
      <dgm:prSet/>
      <dgm:spPr/>
      <dgm:t>
        <a:bodyPr/>
        <a:lstStyle/>
        <a:p>
          <a:endParaRPr lang="en-US"/>
        </a:p>
      </dgm:t>
    </dgm:pt>
    <dgm:pt modelId="{97F113EC-40F7-4234-9606-D8CE87057B5A}" type="pres">
      <dgm:prSet presAssocID="{3B0A0375-8D9D-425E-9DA3-657E269DB565}" presName="Name0" presStyleCnt="0">
        <dgm:presLayoutVars>
          <dgm:dir/>
          <dgm:resizeHandles/>
        </dgm:presLayoutVars>
      </dgm:prSet>
      <dgm:spPr/>
    </dgm:pt>
    <dgm:pt modelId="{657F430A-59B0-4526-8E3F-95D73B598479}" type="pres">
      <dgm:prSet presAssocID="{BDC5F13E-9E6A-4EF8-BFFB-C62C9DA403E7}" presName="compNode" presStyleCnt="0"/>
      <dgm:spPr/>
    </dgm:pt>
    <dgm:pt modelId="{1831FB98-3EA4-410E-A3D4-8444BA4EBDC8}" type="pres">
      <dgm:prSet presAssocID="{BDC5F13E-9E6A-4EF8-BFFB-C62C9DA403E7}" presName="dummyConnPt" presStyleCnt="0"/>
      <dgm:spPr/>
    </dgm:pt>
    <dgm:pt modelId="{D5BACA23-E40F-48D0-8B2D-21A25598A2C9}" type="pres">
      <dgm:prSet presAssocID="{BDC5F13E-9E6A-4EF8-BFFB-C62C9DA403E7}" presName="node" presStyleLbl="node1" presStyleIdx="0" presStyleCnt="9">
        <dgm:presLayoutVars>
          <dgm:bulletEnabled val="1"/>
        </dgm:presLayoutVars>
      </dgm:prSet>
      <dgm:spPr/>
    </dgm:pt>
    <dgm:pt modelId="{CAE14353-1BA9-4CFA-943E-728AD01BACE7}" type="pres">
      <dgm:prSet presAssocID="{856CF4BE-B25B-4BA1-8FAC-73542866E25F}" presName="sibTrans" presStyleLbl="bgSibTrans2D1" presStyleIdx="0" presStyleCnt="8" custAng="16200000" custFlipVert="0" custScaleX="100201" custScaleY="98542" custLinFactY="70097" custLinFactNeighborX="40017" custLinFactNeighborY="100000"/>
      <dgm:spPr>
        <a:prstGeom prst="flowChartMerge">
          <a:avLst/>
        </a:prstGeom>
      </dgm:spPr>
    </dgm:pt>
    <dgm:pt modelId="{90D9BA22-668D-45ED-962C-94948B7F94DC}" type="pres">
      <dgm:prSet presAssocID="{727C758D-6263-4DF5-B29C-C349AF42FD3B}" presName="compNode" presStyleCnt="0"/>
      <dgm:spPr/>
    </dgm:pt>
    <dgm:pt modelId="{27C90757-0CC1-4D58-BE10-E3398B1F5BAA}" type="pres">
      <dgm:prSet presAssocID="{727C758D-6263-4DF5-B29C-C349AF42FD3B}" presName="dummyConnPt" presStyleCnt="0"/>
      <dgm:spPr/>
    </dgm:pt>
    <dgm:pt modelId="{8AD830A6-AE5C-4568-8665-B10483119654}" type="pres">
      <dgm:prSet presAssocID="{727C758D-6263-4DF5-B29C-C349AF42FD3B}" presName="node" presStyleLbl="node1" presStyleIdx="1" presStyleCnt="9">
        <dgm:presLayoutVars>
          <dgm:bulletEnabled val="1"/>
        </dgm:presLayoutVars>
      </dgm:prSet>
      <dgm:spPr/>
    </dgm:pt>
    <dgm:pt modelId="{1A59BE7E-7AB5-4BCF-85DC-BA0D231F7B00}" type="pres">
      <dgm:prSet presAssocID="{6FC3908A-142C-46BB-852A-5CE66202D7AF}" presName="sibTrans" presStyleLbl="bgSibTrans2D1" presStyleIdx="1" presStyleCnt="8" custAng="5400000" custLinFactY="67731" custLinFactNeighborX="39911" custLinFactNeighborY="100000"/>
      <dgm:spPr>
        <a:xfrm rot="5400000">
          <a:off x="886457" y="3164246"/>
          <a:ext cx="1925514" cy="231982"/>
        </a:xfrm>
        <a:prstGeom prst="flowChartExtract">
          <a:avLst/>
        </a:prstGeom>
      </dgm:spPr>
    </dgm:pt>
    <dgm:pt modelId="{EB34BDD9-4F5E-4FEB-85AD-9E878E73108F}" type="pres">
      <dgm:prSet presAssocID="{195C33F5-0E79-41F7-8A89-7F2CF0E61961}" presName="compNode" presStyleCnt="0"/>
      <dgm:spPr/>
    </dgm:pt>
    <dgm:pt modelId="{E2B0E908-9B03-47B4-9C7B-E121E252B8E0}" type="pres">
      <dgm:prSet presAssocID="{195C33F5-0E79-41F7-8A89-7F2CF0E61961}" presName="dummyConnPt" presStyleCnt="0"/>
      <dgm:spPr/>
    </dgm:pt>
    <dgm:pt modelId="{5B782517-4AA6-448D-9DFD-E131BEED988C}" type="pres">
      <dgm:prSet presAssocID="{195C33F5-0E79-41F7-8A89-7F2CF0E61961}" presName="node" presStyleLbl="node1" presStyleIdx="2" presStyleCnt="9">
        <dgm:presLayoutVars>
          <dgm:bulletEnabled val="1"/>
        </dgm:presLayoutVars>
      </dgm:prSet>
      <dgm:spPr/>
    </dgm:pt>
    <dgm:pt modelId="{062EDBB4-4AEC-40E8-A5B3-DAC81B674B53}" type="pres">
      <dgm:prSet presAssocID="{EEAE7387-463E-4C65-A36A-2C986758300B}" presName="sibTrans" presStyleLbl="bgSibTrans2D1" presStyleIdx="2" presStyleCnt="8" custAng="5400000" custScaleX="32818" custScaleY="269513" custLinFactY="76119" custLinFactNeighborX="23605" custLinFactNeighborY="100000"/>
      <dgm:spPr>
        <a:prstGeom prst="triangle">
          <a:avLst/>
        </a:prstGeom>
      </dgm:spPr>
    </dgm:pt>
    <dgm:pt modelId="{F181E6D9-39FB-4BAB-802F-BC500DA34E77}" type="pres">
      <dgm:prSet presAssocID="{785FB521-4474-4934-830C-4EA8C8242676}" presName="compNode" presStyleCnt="0"/>
      <dgm:spPr/>
    </dgm:pt>
    <dgm:pt modelId="{89CBD512-81BD-4F0D-8915-78412A76448B}" type="pres">
      <dgm:prSet presAssocID="{785FB521-4474-4934-830C-4EA8C8242676}" presName="dummyConnPt" presStyleCnt="0"/>
      <dgm:spPr/>
    </dgm:pt>
    <dgm:pt modelId="{A58DDEC5-B7CA-4A75-9D95-0FFFB56580E7}" type="pres">
      <dgm:prSet presAssocID="{785FB521-4474-4934-830C-4EA8C8242676}" presName="node" presStyleLbl="node1" presStyleIdx="3" presStyleCnt="9">
        <dgm:presLayoutVars>
          <dgm:bulletEnabled val="1"/>
        </dgm:presLayoutVars>
      </dgm:prSet>
      <dgm:spPr>
        <a:xfrm>
          <a:off x="4758046" y="3869245"/>
          <a:ext cx="2577583" cy="1546549"/>
        </a:xfrm>
        <a:prstGeom prst="roundRect">
          <a:avLst>
            <a:gd name="adj" fmla="val 10000"/>
          </a:avLst>
        </a:prstGeom>
      </dgm:spPr>
    </dgm:pt>
    <dgm:pt modelId="{F80C4A34-3FA2-49C0-81B3-CE276BE98103}" type="pres">
      <dgm:prSet presAssocID="{663B3193-1EB0-408A-AED0-4000FEB69ED7}" presName="sibTrans" presStyleLbl="bgSibTrans2D1" presStyleIdx="3" presStyleCnt="8" custAng="5400000" custLinFactY="69310" custLinFactNeighborX="40909" custLinFactNeighborY="100000"/>
      <dgm:spPr>
        <a:prstGeom prst="triangle">
          <a:avLst/>
        </a:prstGeom>
      </dgm:spPr>
    </dgm:pt>
    <dgm:pt modelId="{556B6F96-194C-4378-AA28-C9E528E9E2F4}" type="pres">
      <dgm:prSet presAssocID="{118EAD3C-C358-48A0-994B-2B26130C08E1}" presName="compNode" presStyleCnt="0"/>
      <dgm:spPr/>
    </dgm:pt>
    <dgm:pt modelId="{335A34FF-35E5-4D0F-B421-3AFB58293D8A}" type="pres">
      <dgm:prSet presAssocID="{118EAD3C-C358-48A0-994B-2B26130C08E1}" presName="dummyConnPt" presStyleCnt="0"/>
      <dgm:spPr/>
    </dgm:pt>
    <dgm:pt modelId="{9BFE9FAF-2199-46D5-A1F9-37B54929367A}" type="pres">
      <dgm:prSet presAssocID="{118EAD3C-C358-48A0-994B-2B26130C08E1}" presName="node" presStyleLbl="node1" presStyleIdx="4" presStyleCnt="9">
        <dgm:presLayoutVars>
          <dgm:bulletEnabled val="1"/>
        </dgm:presLayoutVars>
      </dgm:prSet>
      <dgm:spPr>
        <a:xfrm>
          <a:off x="4758046" y="1936058"/>
          <a:ext cx="2577583" cy="1546549"/>
        </a:xfrm>
        <a:prstGeom prst="roundRect">
          <a:avLst>
            <a:gd name="adj" fmla="val 10000"/>
          </a:avLst>
        </a:prstGeom>
      </dgm:spPr>
    </dgm:pt>
    <dgm:pt modelId="{BFE39B22-ECE9-4340-8756-BA59A10032C3}" type="pres">
      <dgm:prSet presAssocID="{1185CA82-0CED-4276-A636-9A2D52578EDF}" presName="sibTrans" presStyleLbl="bgSibTrans2D1" presStyleIdx="4" presStyleCnt="8" custAng="5400000" custLinFactY="70949" custLinFactNeighborX="40921" custLinFactNeighborY="100000"/>
      <dgm:spPr>
        <a:prstGeom prst="triangle">
          <a:avLst/>
        </a:prstGeom>
      </dgm:spPr>
    </dgm:pt>
    <dgm:pt modelId="{B31DEF1A-59EB-49DF-8E61-9BDBE668B5B0}" type="pres">
      <dgm:prSet presAssocID="{87BACD54-77FD-48D0-8511-F3414759D39F}" presName="compNode" presStyleCnt="0"/>
      <dgm:spPr/>
    </dgm:pt>
    <dgm:pt modelId="{E51054DB-02EC-441D-B0BA-79013C2D66C8}" type="pres">
      <dgm:prSet presAssocID="{87BACD54-77FD-48D0-8511-F3414759D39F}" presName="dummyConnPt" presStyleCnt="0"/>
      <dgm:spPr/>
    </dgm:pt>
    <dgm:pt modelId="{27171139-2D81-4F80-A303-202FE950BB12}" type="pres">
      <dgm:prSet presAssocID="{87BACD54-77FD-48D0-8511-F3414759D39F}" presName="node" presStyleLbl="node1" presStyleIdx="5" presStyleCnt="9">
        <dgm:presLayoutVars>
          <dgm:bulletEnabled val="1"/>
        </dgm:presLayoutVars>
      </dgm:prSet>
      <dgm:spPr>
        <a:xfrm>
          <a:off x="4758046" y="2871"/>
          <a:ext cx="2577583" cy="1546549"/>
        </a:xfrm>
        <a:prstGeom prst="roundRect">
          <a:avLst>
            <a:gd name="adj" fmla="val 10000"/>
          </a:avLst>
        </a:prstGeom>
      </dgm:spPr>
    </dgm:pt>
    <dgm:pt modelId="{A953B8E1-62EF-439A-91A3-78246441677A}" type="pres">
      <dgm:prSet presAssocID="{330A25B0-D0A9-4B5D-9A99-7A1B01D8BF7A}" presName="sibTrans" presStyleLbl="bgSibTrans2D1" presStyleIdx="5" presStyleCnt="8" custAng="5400000" custScaleX="32881" custScaleY="268034" custLinFactY="71925" custLinFactNeighborX="23322" custLinFactNeighborY="100000"/>
      <dgm:spPr>
        <a:prstGeom prst="triangle">
          <a:avLst/>
        </a:prstGeom>
      </dgm:spPr>
    </dgm:pt>
    <dgm:pt modelId="{0DE82ED6-5ED7-402E-8620-BED1B9CEC33D}" type="pres">
      <dgm:prSet presAssocID="{326A3EF5-3C55-402A-9BDF-79A7AD7ED691}" presName="compNode" presStyleCnt="0"/>
      <dgm:spPr/>
    </dgm:pt>
    <dgm:pt modelId="{4ADB3E29-4595-439B-AC18-A94FBF688A28}" type="pres">
      <dgm:prSet presAssocID="{326A3EF5-3C55-402A-9BDF-79A7AD7ED691}" presName="dummyConnPt" presStyleCnt="0"/>
      <dgm:spPr/>
    </dgm:pt>
    <dgm:pt modelId="{1FE1F7B0-DEFC-4689-BB58-94F5F31F2340}" type="pres">
      <dgm:prSet presAssocID="{326A3EF5-3C55-402A-9BDF-79A7AD7ED691}" presName="node" presStyleLbl="node1" presStyleIdx="6" presStyleCnt="9">
        <dgm:presLayoutVars>
          <dgm:bulletEnabled val="1"/>
        </dgm:presLayoutVars>
      </dgm:prSet>
      <dgm:spPr>
        <a:xfrm>
          <a:off x="8186232" y="2871"/>
          <a:ext cx="2577583" cy="1546549"/>
        </a:xfrm>
        <a:prstGeom prst="roundRect">
          <a:avLst>
            <a:gd name="adj" fmla="val 10000"/>
          </a:avLst>
        </a:prstGeom>
      </dgm:spPr>
    </dgm:pt>
    <dgm:pt modelId="{131AC91F-4742-46A5-AD18-EA61850363F1}" type="pres">
      <dgm:prSet presAssocID="{C39A6C9D-2A16-4163-B53E-FCABAB9C4063}" presName="sibTrans" presStyleLbl="bgSibTrans2D1" presStyleIdx="6" presStyleCnt="8" custAng="16200000" custLinFactY="70950" custLinFactNeighborX="41426" custLinFactNeighborY="100000"/>
      <dgm:spPr>
        <a:prstGeom prst="flowChartMerge">
          <a:avLst/>
        </a:prstGeom>
      </dgm:spPr>
    </dgm:pt>
    <dgm:pt modelId="{DF1128A5-F82C-4ABF-9A4F-39CBF623688C}" type="pres">
      <dgm:prSet presAssocID="{B8D3B712-F29E-4897-AD0C-4AE6C6B6ED5B}" presName="compNode" presStyleCnt="0"/>
      <dgm:spPr/>
    </dgm:pt>
    <dgm:pt modelId="{BD31E736-20D0-422A-956D-DE2E3213FB8A}" type="pres">
      <dgm:prSet presAssocID="{B8D3B712-F29E-4897-AD0C-4AE6C6B6ED5B}" presName="dummyConnPt" presStyleCnt="0"/>
      <dgm:spPr/>
    </dgm:pt>
    <dgm:pt modelId="{95B55CCE-487B-4510-B8C3-B987B28FC472}" type="pres">
      <dgm:prSet presAssocID="{B8D3B712-F29E-4897-AD0C-4AE6C6B6ED5B}" presName="node" presStyleLbl="node1" presStyleIdx="7" presStyleCnt="9">
        <dgm:presLayoutVars>
          <dgm:bulletEnabled val="1"/>
        </dgm:presLayoutVars>
      </dgm:prSet>
      <dgm:spPr>
        <a:xfrm>
          <a:off x="8186232" y="1936058"/>
          <a:ext cx="2577583" cy="1546549"/>
        </a:xfrm>
        <a:prstGeom prst="roundRect">
          <a:avLst>
            <a:gd name="adj" fmla="val 10000"/>
          </a:avLst>
        </a:prstGeom>
      </dgm:spPr>
    </dgm:pt>
    <dgm:pt modelId="{074EFFA6-CDD3-47C4-9092-B03E90571AEC}" type="pres">
      <dgm:prSet presAssocID="{F36C947C-1692-4CF4-8B03-83CAD046678D}" presName="sibTrans" presStyleLbl="bgSibTrans2D1" presStyleIdx="7" presStyleCnt="8" custAng="16200000" custLinFactY="69310" custLinFactNeighborX="41426" custLinFactNeighborY="100000"/>
      <dgm:spPr>
        <a:prstGeom prst="flowChartMerge">
          <a:avLst/>
        </a:prstGeom>
      </dgm:spPr>
    </dgm:pt>
    <dgm:pt modelId="{89C24CD0-A2FE-4930-A07C-2CA98CD60000}" type="pres">
      <dgm:prSet presAssocID="{29618ED5-A8F6-426D-A8AA-6B04DA1C305D}" presName="compNode" presStyleCnt="0"/>
      <dgm:spPr/>
    </dgm:pt>
    <dgm:pt modelId="{92E31214-4DCC-4D9F-BE42-830F1242E5A5}" type="pres">
      <dgm:prSet presAssocID="{29618ED5-A8F6-426D-A8AA-6B04DA1C305D}" presName="dummyConnPt" presStyleCnt="0"/>
      <dgm:spPr/>
    </dgm:pt>
    <dgm:pt modelId="{AFCDB6FE-489E-4F71-9198-A29DB9CCA6D3}" type="pres">
      <dgm:prSet presAssocID="{29618ED5-A8F6-426D-A8AA-6B04DA1C305D}" presName="node" presStyleLbl="node1" presStyleIdx="8" presStyleCnt="9">
        <dgm:presLayoutVars>
          <dgm:bulletEnabled val="1"/>
        </dgm:presLayoutVars>
      </dgm:prSet>
      <dgm:spPr>
        <a:xfrm>
          <a:off x="8186232" y="3869245"/>
          <a:ext cx="2577583" cy="1546549"/>
        </a:xfrm>
        <a:prstGeom prst="roundRect">
          <a:avLst>
            <a:gd name="adj" fmla="val 10000"/>
          </a:avLst>
        </a:prstGeom>
      </dgm:spPr>
    </dgm:pt>
  </dgm:ptLst>
  <dgm:cxnLst>
    <dgm:cxn modelId="{52AE9004-C297-4959-9DE5-27160F717402}" type="presOf" srcId="{195C33F5-0E79-41F7-8A89-7F2CF0E61961}" destId="{5B782517-4AA6-448D-9DFD-E131BEED988C}" srcOrd="0" destOrd="0" presId="urn:microsoft.com/office/officeart/2005/8/layout/bProcess4"/>
    <dgm:cxn modelId="{7363C104-AF92-4D33-853A-9CE6B7533C13}" srcId="{3B0A0375-8D9D-425E-9DA3-657E269DB565}" destId="{B8D3B712-F29E-4897-AD0C-4AE6C6B6ED5B}" srcOrd="7" destOrd="0" parTransId="{B99DE702-D323-4C7A-8517-43212DE7C8E8}" sibTransId="{F36C947C-1692-4CF4-8B03-83CAD046678D}"/>
    <dgm:cxn modelId="{D460250E-5430-4A71-ABAE-942D7CACC17E}" type="presOf" srcId="{6FC3908A-142C-46BB-852A-5CE66202D7AF}" destId="{1A59BE7E-7AB5-4BCF-85DC-BA0D231F7B00}" srcOrd="0" destOrd="0" presId="urn:microsoft.com/office/officeart/2005/8/layout/bProcess4"/>
    <dgm:cxn modelId="{96C19B11-0B9B-499A-ABD4-C28171A1A1D6}" type="presOf" srcId="{785FB521-4474-4934-830C-4EA8C8242676}" destId="{A58DDEC5-B7CA-4A75-9D95-0FFFB56580E7}" srcOrd="0" destOrd="0" presId="urn:microsoft.com/office/officeart/2005/8/layout/bProcess4"/>
    <dgm:cxn modelId="{EA18EC25-254D-46B9-81BC-F251664D9305}" srcId="{3B0A0375-8D9D-425E-9DA3-657E269DB565}" destId="{BDC5F13E-9E6A-4EF8-BFFB-C62C9DA403E7}" srcOrd="0" destOrd="0" parTransId="{38BE10AE-2F1A-4D64-93C8-3EA7507A0108}" sibTransId="{856CF4BE-B25B-4BA1-8FAC-73542866E25F}"/>
    <dgm:cxn modelId="{E91CA05C-C8CA-4BC4-90EA-8E0E0C2B5D65}" srcId="{3B0A0375-8D9D-425E-9DA3-657E269DB565}" destId="{87BACD54-77FD-48D0-8511-F3414759D39F}" srcOrd="5" destOrd="0" parTransId="{8A554ED4-2BE4-4998-85FF-A0DBCE0C2200}" sibTransId="{330A25B0-D0A9-4B5D-9A99-7A1B01D8BF7A}"/>
    <dgm:cxn modelId="{A7F5AF62-04FA-4EE2-80CD-9C060FBFCDB3}" srcId="{3B0A0375-8D9D-425E-9DA3-657E269DB565}" destId="{195C33F5-0E79-41F7-8A89-7F2CF0E61961}" srcOrd="2" destOrd="0" parTransId="{4433B628-2B75-4331-BFF9-7887A9A5861A}" sibTransId="{EEAE7387-463E-4C65-A36A-2C986758300B}"/>
    <dgm:cxn modelId="{9A5C6369-139E-4CF9-AABD-03D339F7DCF9}" type="presOf" srcId="{727C758D-6263-4DF5-B29C-C349AF42FD3B}" destId="{8AD830A6-AE5C-4568-8665-B10483119654}" srcOrd="0" destOrd="0" presId="urn:microsoft.com/office/officeart/2005/8/layout/bProcess4"/>
    <dgm:cxn modelId="{1AFBEB6B-D493-40FC-8F3A-1B3F30BEA706}" type="presOf" srcId="{1185CA82-0CED-4276-A636-9A2D52578EDF}" destId="{BFE39B22-ECE9-4340-8756-BA59A10032C3}" srcOrd="0" destOrd="0" presId="urn:microsoft.com/office/officeart/2005/8/layout/bProcess4"/>
    <dgm:cxn modelId="{74B37A4D-2F1E-4704-B1E7-4AF7620408BA}" type="presOf" srcId="{29618ED5-A8F6-426D-A8AA-6B04DA1C305D}" destId="{AFCDB6FE-489E-4F71-9198-A29DB9CCA6D3}" srcOrd="0" destOrd="0" presId="urn:microsoft.com/office/officeart/2005/8/layout/bProcess4"/>
    <dgm:cxn modelId="{94F2DC6D-2639-4E9C-8517-0410C61222B2}" srcId="{3B0A0375-8D9D-425E-9DA3-657E269DB565}" destId="{118EAD3C-C358-48A0-994B-2B26130C08E1}" srcOrd="4" destOrd="0" parTransId="{79A6B526-75C7-4A8E-BCD4-4738DA8ADBD4}" sibTransId="{1185CA82-0CED-4276-A636-9A2D52578EDF}"/>
    <dgm:cxn modelId="{25DCFB59-E207-4226-A4E7-52CCEA20310B}" type="presOf" srcId="{326A3EF5-3C55-402A-9BDF-79A7AD7ED691}" destId="{1FE1F7B0-DEFC-4689-BB58-94F5F31F2340}" srcOrd="0" destOrd="0" presId="urn:microsoft.com/office/officeart/2005/8/layout/bProcess4"/>
    <dgm:cxn modelId="{B174F682-34F9-41AE-BCCB-F80D893FD3AE}" type="presOf" srcId="{87BACD54-77FD-48D0-8511-F3414759D39F}" destId="{27171139-2D81-4F80-A303-202FE950BB12}" srcOrd="0" destOrd="0" presId="urn:microsoft.com/office/officeart/2005/8/layout/bProcess4"/>
    <dgm:cxn modelId="{A06A3883-84C3-40D0-9864-C09726454833}" type="presOf" srcId="{3B0A0375-8D9D-425E-9DA3-657E269DB565}" destId="{97F113EC-40F7-4234-9606-D8CE87057B5A}" srcOrd="0" destOrd="0" presId="urn:microsoft.com/office/officeart/2005/8/layout/bProcess4"/>
    <dgm:cxn modelId="{2B86EA84-D4B0-46CF-A6AB-3646604545B0}" type="presOf" srcId="{118EAD3C-C358-48A0-994B-2B26130C08E1}" destId="{9BFE9FAF-2199-46D5-A1F9-37B54929367A}" srcOrd="0" destOrd="0" presId="urn:microsoft.com/office/officeart/2005/8/layout/bProcess4"/>
    <dgm:cxn modelId="{12912C90-EE18-4D26-8097-39B2102B5F85}" srcId="{3B0A0375-8D9D-425E-9DA3-657E269DB565}" destId="{727C758D-6263-4DF5-B29C-C349AF42FD3B}" srcOrd="1" destOrd="0" parTransId="{1311A23D-A719-41F5-B95B-421564569D49}" sibTransId="{6FC3908A-142C-46BB-852A-5CE66202D7AF}"/>
    <dgm:cxn modelId="{8FFFE697-8EEB-4DDF-B146-C141C430FE9A}" type="presOf" srcId="{663B3193-1EB0-408A-AED0-4000FEB69ED7}" destId="{F80C4A34-3FA2-49C0-81B3-CE276BE98103}" srcOrd="0" destOrd="0" presId="urn:microsoft.com/office/officeart/2005/8/layout/bProcess4"/>
    <dgm:cxn modelId="{10F1459D-8C2C-4ED5-B940-03893E732AE3}" srcId="{3B0A0375-8D9D-425E-9DA3-657E269DB565}" destId="{785FB521-4474-4934-830C-4EA8C8242676}" srcOrd="3" destOrd="0" parTransId="{EAEF7213-23B9-4128-A99A-E8252A33789D}" sibTransId="{663B3193-1EB0-408A-AED0-4000FEB69ED7}"/>
    <dgm:cxn modelId="{38AB91A7-ED3B-43BE-87CE-8EAA629D0000}" type="presOf" srcId="{BDC5F13E-9E6A-4EF8-BFFB-C62C9DA403E7}" destId="{D5BACA23-E40F-48D0-8B2D-21A25598A2C9}" srcOrd="0" destOrd="0" presId="urn:microsoft.com/office/officeart/2005/8/layout/bProcess4"/>
    <dgm:cxn modelId="{74256FAF-2797-46F3-932E-908C71672E2E}" srcId="{3B0A0375-8D9D-425E-9DA3-657E269DB565}" destId="{29618ED5-A8F6-426D-A8AA-6B04DA1C305D}" srcOrd="8" destOrd="0" parTransId="{BF0442B1-540B-4C95-B697-3E7A2500CB2F}" sibTransId="{C00EC1F2-2E9F-4D25-AB5B-1D260A2FE86B}"/>
    <dgm:cxn modelId="{576583BE-0D6D-432C-BFE4-FCD5F9FB705E}" type="presOf" srcId="{B8D3B712-F29E-4897-AD0C-4AE6C6B6ED5B}" destId="{95B55CCE-487B-4510-B8C3-B987B28FC472}" srcOrd="0" destOrd="0" presId="urn:microsoft.com/office/officeart/2005/8/layout/bProcess4"/>
    <dgm:cxn modelId="{96B239C1-F6AC-405C-A7E8-2D15698CDD1B}" srcId="{3B0A0375-8D9D-425E-9DA3-657E269DB565}" destId="{326A3EF5-3C55-402A-9BDF-79A7AD7ED691}" srcOrd="6" destOrd="0" parTransId="{7C18EABC-26AA-4A8A-8F1E-30D4652F5326}" sibTransId="{C39A6C9D-2A16-4163-B53E-FCABAB9C4063}"/>
    <dgm:cxn modelId="{A2B775C8-1FC5-49C9-A7CE-1349D74C87E5}" type="presOf" srcId="{856CF4BE-B25B-4BA1-8FAC-73542866E25F}" destId="{CAE14353-1BA9-4CFA-943E-728AD01BACE7}" srcOrd="0" destOrd="0" presId="urn:microsoft.com/office/officeart/2005/8/layout/bProcess4"/>
    <dgm:cxn modelId="{EECF7CDD-DA1F-4475-B5CF-187646443B64}" type="presOf" srcId="{F36C947C-1692-4CF4-8B03-83CAD046678D}" destId="{074EFFA6-CDD3-47C4-9092-B03E90571AEC}" srcOrd="0" destOrd="0" presId="urn:microsoft.com/office/officeart/2005/8/layout/bProcess4"/>
    <dgm:cxn modelId="{10654FE2-365D-41AC-8898-42327AE5E737}" type="presOf" srcId="{330A25B0-D0A9-4B5D-9A99-7A1B01D8BF7A}" destId="{A953B8E1-62EF-439A-91A3-78246441677A}" srcOrd="0" destOrd="0" presId="urn:microsoft.com/office/officeart/2005/8/layout/bProcess4"/>
    <dgm:cxn modelId="{455E40E7-442F-40B2-962E-A14CA9362302}" type="presOf" srcId="{C39A6C9D-2A16-4163-B53E-FCABAB9C4063}" destId="{131AC91F-4742-46A5-AD18-EA61850363F1}" srcOrd="0" destOrd="0" presId="urn:microsoft.com/office/officeart/2005/8/layout/bProcess4"/>
    <dgm:cxn modelId="{2DF330F3-C977-4200-9616-72A71FC3D25C}" type="presOf" srcId="{EEAE7387-463E-4C65-A36A-2C986758300B}" destId="{062EDBB4-4AEC-40E8-A5B3-DAC81B674B53}" srcOrd="0" destOrd="0" presId="urn:microsoft.com/office/officeart/2005/8/layout/bProcess4"/>
    <dgm:cxn modelId="{B416EB64-DFD5-43A8-B35C-2E561B0C48EE}" type="presParOf" srcId="{97F113EC-40F7-4234-9606-D8CE87057B5A}" destId="{657F430A-59B0-4526-8E3F-95D73B598479}" srcOrd="0" destOrd="0" presId="urn:microsoft.com/office/officeart/2005/8/layout/bProcess4"/>
    <dgm:cxn modelId="{34CC85B8-DA66-4D12-AF9F-D1886B73FB1C}" type="presParOf" srcId="{657F430A-59B0-4526-8E3F-95D73B598479}" destId="{1831FB98-3EA4-410E-A3D4-8444BA4EBDC8}" srcOrd="0" destOrd="0" presId="urn:microsoft.com/office/officeart/2005/8/layout/bProcess4"/>
    <dgm:cxn modelId="{DC548E90-3FA4-4E0A-B419-7635A56D2B36}" type="presParOf" srcId="{657F430A-59B0-4526-8E3F-95D73B598479}" destId="{D5BACA23-E40F-48D0-8B2D-21A25598A2C9}" srcOrd="1" destOrd="0" presId="urn:microsoft.com/office/officeart/2005/8/layout/bProcess4"/>
    <dgm:cxn modelId="{02541773-BD99-4653-A3C0-ED6707022705}" type="presParOf" srcId="{97F113EC-40F7-4234-9606-D8CE87057B5A}" destId="{CAE14353-1BA9-4CFA-943E-728AD01BACE7}" srcOrd="1" destOrd="0" presId="urn:microsoft.com/office/officeart/2005/8/layout/bProcess4"/>
    <dgm:cxn modelId="{A49055BC-FFE1-4EE9-AA8A-BA680A486D29}" type="presParOf" srcId="{97F113EC-40F7-4234-9606-D8CE87057B5A}" destId="{90D9BA22-668D-45ED-962C-94948B7F94DC}" srcOrd="2" destOrd="0" presId="urn:microsoft.com/office/officeart/2005/8/layout/bProcess4"/>
    <dgm:cxn modelId="{CF820DD4-3778-4E67-9462-00831F7DB42E}" type="presParOf" srcId="{90D9BA22-668D-45ED-962C-94948B7F94DC}" destId="{27C90757-0CC1-4D58-BE10-E3398B1F5BAA}" srcOrd="0" destOrd="0" presId="urn:microsoft.com/office/officeart/2005/8/layout/bProcess4"/>
    <dgm:cxn modelId="{8D0600EC-528A-4028-B684-919DC6D7F4E2}" type="presParOf" srcId="{90D9BA22-668D-45ED-962C-94948B7F94DC}" destId="{8AD830A6-AE5C-4568-8665-B10483119654}" srcOrd="1" destOrd="0" presId="urn:microsoft.com/office/officeart/2005/8/layout/bProcess4"/>
    <dgm:cxn modelId="{FCCAC1E6-C72D-4273-89EC-8A8304023E2C}" type="presParOf" srcId="{97F113EC-40F7-4234-9606-D8CE87057B5A}" destId="{1A59BE7E-7AB5-4BCF-85DC-BA0D231F7B00}" srcOrd="3" destOrd="0" presId="urn:microsoft.com/office/officeart/2005/8/layout/bProcess4"/>
    <dgm:cxn modelId="{74BF9741-0810-4D83-9452-546DE7FEB933}" type="presParOf" srcId="{97F113EC-40F7-4234-9606-D8CE87057B5A}" destId="{EB34BDD9-4F5E-4FEB-85AD-9E878E73108F}" srcOrd="4" destOrd="0" presId="urn:microsoft.com/office/officeart/2005/8/layout/bProcess4"/>
    <dgm:cxn modelId="{C3D9AA74-7790-4F04-BCBC-5193A3D42D67}" type="presParOf" srcId="{EB34BDD9-4F5E-4FEB-85AD-9E878E73108F}" destId="{E2B0E908-9B03-47B4-9C7B-E121E252B8E0}" srcOrd="0" destOrd="0" presId="urn:microsoft.com/office/officeart/2005/8/layout/bProcess4"/>
    <dgm:cxn modelId="{B806C494-863D-4023-B655-D923DC86FB9C}" type="presParOf" srcId="{EB34BDD9-4F5E-4FEB-85AD-9E878E73108F}" destId="{5B782517-4AA6-448D-9DFD-E131BEED988C}" srcOrd="1" destOrd="0" presId="urn:microsoft.com/office/officeart/2005/8/layout/bProcess4"/>
    <dgm:cxn modelId="{2101FE0C-EB85-4B0C-A46F-D3128BF63501}" type="presParOf" srcId="{97F113EC-40F7-4234-9606-D8CE87057B5A}" destId="{062EDBB4-4AEC-40E8-A5B3-DAC81B674B53}" srcOrd="5" destOrd="0" presId="urn:microsoft.com/office/officeart/2005/8/layout/bProcess4"/>
    <dgm:cxn modelId="{BEB075C2-5ABD-43BA-BFB2-8CD995D5B936}" type="presParOf" srcId="{97F113EC-40F7-4234-9606-D8CE87057B5A}" destId="{F181E6D9-39FB-4BAB-802F-BC500DA34E77}" srcOrd="6" destOrd="0" presId="urn:microsoft.com/office/officeart/2005/8/layout/bProcess4"/>
    <dgm:cxn modelId="{7AE1CE91-F083-4481-8B4D-56E195B23D65}" type="presParOf" srcId="{F181E6D9-39FB-4BAB-802F-BC500DA34E77}" destId="{89CBD512-81BD-4F0D-8915-78412A76448B}" srcOrd="0" destOrd="0" presId="urn:microsoft.com/office/officeart/2005/8/layout/bProcess4"/>
    <dgm:cxn modelId="{19DEE1A9-E81B-46AA-85A4-E98DBAAF7590}" type="presParOf" srcId="{F181E6D9-39FB-4BAB-802F-BC500DA34E77}" destId="{A58DDEC5-B7CA-4A75-9D95-0FFFB56580E7}" srcOrd="1" destOrd="0" presId="urn:microsoft.com/office/officeart/2005/8/layout/bProcess4"/>
    <dgm:cxn modelId="{C4B66594-9CB2-4E41-8A66-AF96C3CF664C}" type="presParOf" srcId="{97F113EC-40F7-4234-9606-D8CE87057B5A}" destId="{F80C4A34-3FA2-49C0-81B3-CE276BE98103}" srcOrd="7" destOrd="0" presId="urn:microsoft.com/office/officeart/2005/8/layout/bProcess4"/>
    <dgm:cxn modelId="{F444649C-6C2A-48C3-987B-EDC47CF89FD4}" type="presParOf" srcId="{97F113EC-40F7-4234-9606-D8CE87057B5A}" destId="{556B6F96-194C-4378-AA28-C9E528E9E2F4}" srcOrd="8" destOrd="0" presId="urn:microsoft.com/office/officeart/2005/8/layout/bProcess4"/>
    <dgm:cxn modelId="{FBCB0A37-AD0F-4D16-BB4C-E0C12A399A3D}" type="presParOf" srcId="{556B6F96-194C-4378-AA28-C9E528E9E2F4}" destId="{335A34FF-35E5-4D0F-B421-3AFB58293D8A}" srcOrd="0" destOrd="0" presId="urn:microsoft.com/office/officeart/2005/8/layout/bProcess4"/>
    <dgm:cxn modelId="{0F8DD467-E2A8-49D1-9C7D-ACE312F7F04E}" type="presParOf" srcId="{556B6F96-194C-4378-AA28-C9E528E9E2F4}" destId="{9BFE9FAF-2199-46D5-A1F9-37B54929367A}" srcOrd="1" destOrd="0" presId="urn:microsoft.com/office/officeart/2005/8/layout/bProcess4"/>
    <dgm:cxn modelId="{8634586B-9737-4E8F-B9B5-B2340E139F82}" type="presParOf" srcId="{97F113EC-40F7-4234-9606-D8CE87057B5A}" destId="{BFE39B22-ECE9-4340-8756-BA59A10032C3}" srcOrd="9" destOrd="0" presId="urn:microsoft.com/office/officeart/2005/8/layout/bProcess4"/>
    <dgm:cxn modelId="{E5311537-C907-4AC6-A25F-56F376B45AB4}" type="presParOf" srcId="{97F113EC-40F7-4234-9606-D8CE87057B5A}" destId="{B31DEF1A-59EB-49DF-8E61-9BDBE668B5B0}" srcOrd="10" destOrd="0" presId="urn:microsoft.com/office/officeart/2005/8/layout/bProcess4"/>
    <dgm:cxn modelId="{66827BEA-F9F5-4717-B446-52F7A3C96676}" type="presParOf" srcId="{B31DEF1A-59EB-49DF-8E61-9BDBE668B5B0}" destId="{E51054DB-02EC-441D-B0BA-79013C2D66C8}" srcOrd="0" destOrd="0" presId="urn:microsoft.com/office/officeart/2005/8/layout/bProcess4"/>
    <dgm:cxn modelId="{1C1ABF86-FA92-4E24-8984-DC0C07F12BC4}" type="presParOf" srcId="{B31DEF1A-59EB-49DF-8E61-9BDBE668B5B0}" destId="{27171139-2D81-4F80-A303-202FE950BB12}" srcOrd="1" destOrd="0" presId="urn:microsoft.com/office/officeart/2005/8/layout/bProcess4"/>
    <dgm:cxn modelId="{A3549A4E-3930-4F72-9966-E65BE51B4299}" type="presParOf" srcId="{97F113EC-40F7-4234-9606-D8CE87057B5A}" destId="{A953B8E1-62EF-439A-91A3-78246441677A}" srcOrd="11" destOrd="0" presId="urn:microsoft.com/office/officeart/2005/8/layout/bProcess4"/>
    <dgm:cxn modelId="{7E35BF6A-DEBD-4EA1-9E04-CB6C35E96D62}" type="presParOf" srcId="{97F113EC-40F7-4234-9606-D8CE87057B5A}" destId="{0DE82ED6-5ED7-402E-8620-BED1B9CEC33D}" srcOrd="12" destOrd="0" presId="urn:microsoft.com/office/officeart/2005/8/layout/bProcess4"/>
    <dgm:cxn modelId="{B8027923-4A5E-457B-B2D3-7E9B77F80A28}" type="presParOf" srcId="{0DE82ED6-5ED7-402E-8620-BED1B9CEC33D}" destId="{4ADB3E29-4595-439B-AC18-A94FBF688A28}" srcOrd="0" destOrd="0" presId="urn:microsoft.com/office/officeart/2005/8/layout/bProcess4"/>
    <dgm:cxn modelId="{0D6B263F-CDC0-4A9E-BCA0-9B3C98C5033C}" type="presParOf" srcId="{0DE82ED6-5ED7-402E-8620-BED1B9CEC33D}" destId="{1FE1F7B0-DEFC-4689-BB58-94F5F31F2340}" srcOrd="1" destOrd="0" presId="urn:microsoft.com/office/officeart/2005/8/layout/bProcess4"/>
    <dgm:cxn modelId="{B2DAB9A5-EE0F-45AA-AF4B-7F257A181A17}" type="presParOf" srcId="{97F113EC-40F7-4234-9606-D8CE87057B5A}" destId="{131AC91F-4742-46A5-AD18-EA61850363F1}" srcOrd="13" destOrd="0" presId="urn:microsoft.com/office/officeart/2005/8/layout/bProcess4"/>
    <dgm:cxn modelId="{01EE73FF-D1BA-48F0-BAE8-DAB60A2F632D}" type="presParOf" srcId="{97F113EC-40F7-4234-9606-D8CE87057B5A}" destId="{DF1128A5-F82C-4ABF-9A4F-39CBF623688C}" srcOrd="14" destOrd="0" presId="urn:microsoft.com/office/officeart/2005/8/layout/bProcess4"/>
    <dgm:cxn modelId="{70E90847-9B9B-4FFA-B059-B1243BA2982D}" type="presParOf" srcId="{DF1128A5-F82C-4ABF-9A4F-39CBF623688C}" destId="{BD31E736-20D0-422A-956D-DE2E3213FB8A}" srcOrd="0" destOrd="0" presId="urn:microsoft.com/office/officeart/2005/8/layout/bProcess4"/>
    <dgm:cxn modelId="{46E6CA1D-50E7-4293-B30E-35B14DEC527F}" type="presParOf" srcId="{DF1128A5-F82C-4ABF-9A4F-39CBF623688C}" destId="{95B55CCE-487B-4510-B8C3-B987B28FC472}" srcOrd="1" destOrd="0" presId="urn:microsoft.com/office/officeart/2005/8/layout/bProcess4"/>
    <dgm:cxn modelId="{803C082F-9715-40CA-86EB-FCC2719FB1B2}" type="presParOf" srcId="{97F113EC-40F7-4234-9606-D8CE87057B5A}" destId="{074EFFA6-CDD3-47C4-9092-B03E90571AEC}" srcOrd="15" destOrd="0" presId="urn:microsoft.com/office/officeart/2005/8/layout/bProcess4"/>
    <dgm:cxn modelId="{BB8E1821-5EA2-4806-9D35-6308A0187E64}" type="presParOf" srcId="{97F113EC-40F7-4234-9606-D8CE87057B5A}" destId="{89C24CD0-A2FE-4930-A07C-2CA98CD60000}" srcOrd="16" destOrd="0" presId="urn:microsoft.com/office/officeart/2005/8/layout/bProcess4"/>
    <dgm:cxn modelId="{9EEFC3A1-8C9F-46EB-A9B2-165D23D94273}" type="presParOf" srcId="{89C24CD0-A2FE-4930-A07C-2CA98CD60000}" destId="{92E31214-4DCC-4D9F-BE42-830F1242E5A5}" srcOrd="0" destOrd="0" presId="urn:microsoft.com/office/officeart/2005/8/layout/bProcess4"/>
    <dgm:cxn modelId="{5D0FE4A7-BE9A-4FAF-9FBD-2A3B8214EDF6}" type="presParOf" srcId="{89C24CD0-A2FE-4930-A07C-2CA98CD60000}" destId="{AFCDB6FE-489E-4F71-9198-A29DB9CCA6D3}"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14353-1BA9-4CFA-943E-728AD01BACE7}">
      <dsp:nvSpPr>
        <dsp:cNvPr id="0" name=""/>
        <dsp:cNvSpPr/>
      </dsp:nvSpPr>
      <dsp:spPr>
        <a:xfrm>
          <a:off x="1655055" y="1627346"/>
          <a:ext cx="1929384" cy="228600"/>
        </a:xfrm>
        <a:prstGeom prst="flowChartMerg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5BACA23-E40F-48D0-8B2D-21A25598A2C9}">
      <dsp:nvSpPr>
        <dsp:cNvPr id="0" name=""/>
        <dsp:cNvSpPr/>
      </dsp:nvSpPr>
      <dsp:spPr>
        <a:xfrm>
          <a:off x="1329861" y="2871"/>
          <a:ext cx="2577583" cy="1546549"/>
        </a:xfrm>
        <a:prstGeom prst="roundRect">
          <a:avLst>
            <a:gd name="adj" fmla="val 10000"/>
          </a:avLst>
        </a:prstGeom>
        <a:solidFill>
          <a:schemeClr val="tx1">
            <a:lumMod val="65000"/>
            <a:lumOff val="3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Data Selection</a:t>
          </a:r>
        </a:p>
      </dsp:txBody>
      <dsp:txXfrm>
        <a:off x="1375158" y="48168"/>
        <a:ext cx="2486989" cy="1455955"/>
      </dsp:txXfrm>
    </dsp:sp>
    <dsp:sp modelId="{1A59BE7E-7AB5-4BCF-85DC-BA0D231F7B00}">
      <dsp:nvSpPr>
        <dsp:cNvPr id="0" name=""/>
        <dsp:cNvSpPr/>
      </dsp:nvSpPr>
      <dsp:spPr>
        <a:xfrm rot="10800000">
          <a:off x="1654949" y="3553353"/>
          <a:ext cx="1925514" cy="231982"/>
        </a:xfrm>
        <a:prstGeom prst="flowChartExtract">
          <a:avLst/>
        </a:prstGeom>
        <a:gradFill rotWithShape="0">
          <a:gsLst>
            <a:gs pos="0">
              <a:srgbClr val="4472C4">
                <a:tint val="60000"/>
                <a:hueOff val="0"/>
                <a:satOff val="0"/>
                <a:lumOff val="0"/>
                <a:alphaOff val="0"/>
                <a:satMod val="103000"/>
                <a:lumMod val="102000"/>
                <a:tint val="94000"/>
              </a:srgbClr>
            </a:gs>
            <a:gs pos="50000">
              <a:srgbClr val="4472C4">
                <a:tint val="60000"/>
                <a:hueOff val="0"/>
                <a:satOff val="0"/>
                <a:lumOff val="0"/>
                <a:alphaOff val="0"/>
                <a:satMod val="110000"/>
                <a:lumMod val="100000"/>
                <a:shade val="100000"/>
              </a:srgbClr>
            </a:gs>
            <a:gs pos="100000">
              <a:srgbClr val="4472C4">
                <a:tint val="60000"/>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8AD830A6-AE5C-4568-8665-B10483119654}">
      <dsp:nvSpPr>
        <dsp:cNvPr id="0" name=""/>
        <dsp:cNvSpPr/>
      </dsp:nvSpPr>
      <dsp:spPr>
        <a:xfrm>
          <a:off x="1329861" y="1936058"/>
          <a:ext cx="2577583" cy="154654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Formulation of Research Problem</a:t>
          </a:r>
        </a:p>
      </dsp:txBody>
      <dsp:txXfrm>
        <a:off x="1375158" y="1981355"/>
        <a:ext cx="2486989" cy="1455955"/>
      </dsp:txXfrm>
    </dsp:sp>
    <dsp:sp modelId="{062EDBB4-4AEC-40E8-A5B3-DAC81B674B53}">
      <dsp:nvSpPr>
        <dsp:cNvPr id="0" name=""/>
        <dsp:cNvSpPr/>
      </dsp:nvSpPr>
      <dsp:spPr>
        <a:xfrm rot="5400000">
          <a:off x="3809447" y="4342785"/>
          <a:ext cx="1122543" cy="625222"/>
        </a:xfrm>
        <a:prstGeom prst="triangl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B782517-4AA6-448D-9DFD-E131BEED988C}">
      <dsp:nvSpPr>
        <dsp:cNvPr id="0" name=""/>
        <dsp:cNvSpPr/>
      </dsp:nvSpPr>
      <dsp:spPr>
        <a:xfrm>
          <a:off x="1329861" y="3869245"/>
          <a:ext cx="2577583" cy="1546549"/>
        </a:xfrm>
        <a:prstGeom prst="roundRect">
          <a:avLst>
            <a:gd name="adj" fmla="val 10000"/>
          </a:avLst>
        </a:prstGeom>
        <a:solidFill>
          <a:schemeClr val="tx1">
            <a:lumMod val="65000"/>
            <a:lumOff val="3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EDA in the context of the Research Problem</a:t>
          </a:r>
        </a:p>
      </dsp:txBody>
      <dsp:txXfrm>
        <a:off x="1375158" y="3914542"/>
        <a:ext cx="2486989" cy="1455955"/>
      </dsp:txXfrm>
    </dsp:sp>
    <dsp:sp modelId="{F80C4A34-3FA2-49C0-81B3-CE276BE98103}">
      <dsp:nvSpPr>
        <dsp:cNvPr id="0" name=""/>
        <dsp:cNvSpPr/>
      </dsp:nvSpPr>
      <dsp:spPr>
        <a:xfrm>
          <a:off x="5102351" y="3557016"/>
          <a:ext cx="1925514" cy="231982"/>
        </a:xfrm>
        <a:prstGeom prst="triangl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58DDEC5-B7CA-4A75-9D95-0FFFB56580E7}">
      <dsp:nvSpPr>
        <dsp:cNvPr id="0" name=""/>
        <dsp:cNvSpPr/>
      </dsp:nvSpPr>
      <dsp:spPr>
        <a:xfrm>
          <a:off x="4758046" y="3869245"/>
          <a:ext cx="2577583" cy="1546549"/>
        </a:xfrm>
        <a:prstGeom prst="roundRect">
          <a:avLst>
            <a:gd name="adj" fmla="val 10000"/>
          </a:avLst>
        </a:prstGeom>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Refine the Research problem based on EDA</a:t>
          </a:r>
        </a:p>
      </dsp:txBody>
      <dsp:txXfrm>
        <a:off x="4803343" y="3914542"/>
        <a:ext cx="2486989" cy="1455955"/>
      </dsp:txXfrm>
    </dsp:sp>
    <dsp:sp modelId="{BFE39B22-ECE9-4340-8756-BA59A10032C3}">
      <dsp:nvSpPr>
        <dsp:cNvPr id="0" name=""/>
        <dsp:cNvSpPr/>
      </dsp:nvSpPr>
      <dsp:spPr>
        <a:xfrm>
          <a:off x="5102582" y="1627631"/>
          <a:ext cx="1925514" cy="231982"/>
        </a:xfrm>
        <a:prstGeom prst="triangl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BFE9FAF-2199-46D5-A1F9-37B54929367A}">
      <dsp:nvSpPr>
        <dsp:cNvPr id="0" name=""/>
        <dsp:cNvSpPr/>
      </dsp:nvSpPr>
      <dsp:spPr>
        <a:xfrm>
          <a:off x="4758046" y="1936058"/>
          <a:ext cx="2577583" cy="1546549"/>
        </a:xfrm>
        <a:prstGeom prst="roundRect">
          <a:avLst>
            <a:gd name="adj" fmla="val 10000"/>
          </a:avLst>
        </a:prstGeom>
        <a:solidFill>
          <a:prstClr val="black">
            <a:lumMod val="65000"/>
            <a:lumOff val="35000"/>
          </a:prst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Perform necessary Data Cleaning and Transformations</a:t>
          </a:r>
        </a:p>
      </dsp:txBody>
      <dsp:txXfrm>
        <a:off x="4803343" y="1981355"/>
        <a:ext cx="2486989" cy="1455955"/>
      </dsp:txXfrm>
    </dsp:sp>
    <dsp:sp modelId="{A953B8E1-62EF-439A-91A3-78246441677A}">
      <dsp:nvSpPr>
        <dsp:cNvPr id="0" name=""/>
        <dsp:cNvSpPr/>
      </dsp:nvSpPr>
      <dsp:spPr>
        <a:xfrm rot="5400000">
          <a:off x="7226875" y="468397"/>
          <a:ext cx="1124698" cy="621791"/>
        </a:xfrm>
        <a:prstGeom prst="triangl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7171139-2D81-4F80-A303-202FE950BB12}">
      <dsp:nvSpPr>
        <dsp:cNvPr id="0" name=""/>
        <dsp:cNvSpPr/>
      </dsp:nvSpPr>
      <dsp:spPr>
        <a:xfrm>
          <a:off x="4758046" y="2871"/>
          <a:ext cx="2577583" cy="1546549"/>
        </a:xfrm>
        <a:prstGeom prst="roundRect">
          <a:avLst>
            <a:gd name="adj" fmla="val 10000"/>
          </a:avLst>
        </a:prstGeom>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Identification of right statistical tests for the study</a:t>
          </a:r>
        </a:p>
      </dsp:txBody>
      <dsp:txXfrm>
        <a:off x="4803343" y="48168"/>
        <a:ext cx="2486989" cy="1455955"/>
      </dsp:txXfrm>
    </dsp:sp>
    <dsp:sp modelId="{131AC91F-4742-46A5-AD18-EA61850363F1}">
      <dsp:nvSpPr>
        <dsp:cNvPr id="0" name=""/>
        <dsp:cNvSpPr/>
      </dsp:nvSpPr>
      <dsp:spPr>
        <a:xfrm>
          <a:off x="8540491" y="1627633"/>
          <a:ext cx="1925514" cy="231982"/>
        </a:xfrm>
        <a:prstGeom prst="flowChartMerg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FE1F7B0-DEFC-4689-BB58-94F5F31F2340}">
      <dsp:nvSpPr>
        <dsp:cNvPr id="0" name=""/>
        <dsp:cNvSpPr/>
      </dsp:nvSpPr>
      <dsp:spPr>
        <a:xfrm>
          <a:off x="8186232" y="2871"/>
          <a:ext cx="2577583" cy="1546549"/>
        </a:xfrm>
        <a:prstGeom prst="roundRect">
          <a:avLst>
            <a:gd name="adj" fmla="val 10000"/>
          </a:avLst>
        </a:prstGeom>
        <a:solidFill>
          <a:prstClr val="black">
            <a:lumMod val="65000"/>
            <a:lumOff val="35000"/>
          </a:prst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Perform the tests post stringent conditions verification for the test</a:t>
          </a:r>
        </a:p>
      </dsp:txBody>
      <dsp:txXfrm>
        <a:off x="8231529" y="48168"/>
        <a:ext cx="2486989" cy="1455955"/>
      </dsp:txXfrm>
    </dsp:sp>
    <dsp:sp modelId="{074EFFA6-CDD3-47C4-9092-B03E90571AEC}">
      <dsp:nvSpPr>
        <dsp:cNvPr id="0" name=""/>
        <dsp:cNvSpPr/>
      </dsp:nvSpPr>
      <dsp:spPr>
        <a:xfrm>
          <a:off x="8540491" y="3557016"/>
          <a:ext cx="1925514" cy="231982"/>
        </a:xfrm>
        <a:prstGeom prst="flowChartMerge">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5B55CCE-487B-4510-B8C3-B987B28FC472}">
      <dsp:nvSpPr>
        <dsp:cNvPr id="0" name=""/>
        <dsp:cNvSpPr/>
      </dsp:nvSpPr>
      <dsp:spPr>
        <a:xfrm>
          <a:off x="8186232" y="1936058"/>
          <a:ext cx="2577583" cy="1546549"/>
        </a:xfrm>
        <a:prstGeom prst="roundRect">
          <a:avLst>
            <a:gd name="adj" fmla="val 10000"/>
          </a:avLst>
        </a:prstGeom>
        <a:gradFill rotWithShape="0">
          <a:gsLst>
            <a:gs pos="0">
              <a:srgbClr val="4472C4">
                <a:hueOff val="0"/>
                <a:satOff val="0"/>
                <a:lumOff val="0"/>
                <a:alphaOff val="0"/>
                <a:satMod val="103000"/>
                <a:lumMod val="102000"/>
                <a:tint val="94000"/>
              </a:srgbClr>
            </a:gs>
            <a:gs pos="50000">
              <a:srgbClr val="4472C4">
                <a:hueOff val="0"/>
                <a:satOff val="0"/>
                <a:lumOff val="0"/>
                <a:alphaOff val="0"/>
                <a:satMod val="110000"/>
                <a:lumMod val="100000"/>
                <a:shade val="100000"/>
              </a:srgbClr>
            </a:gs>
            <a:gs pos="100000">
              <a:srgbClr val="4472C4">
                <a:hueOff val="0"/>
                <a:satOff val="0"/>
                <a:lumOff val="0"/>
                <a:alphaOff val="0"/>
                <a:lumMod val="99000"/>
                <a:satMod val="120000"/>
                <a:shade val="78000"/>
              </a:srgb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Conclusion from the tests</a:t>
          </a:r>
        </a:p>
      </dsp:txBody>
      <dsp:txXfrm>
        <a:off x="8231529" y="1981355"/>
        <a:ext cx="2486989" cy="1455955"/>
      </dsp:txXfrm>
    </dsp:sp>
    <dsp:sp modelId="{AFCDB6FE-489E-4F71-9198-A29DB9CCA6D3}">
      <dsp:nvSpPr>
        <dsp:cNvPr id="0" name=""/>
        <dsp:cNvSpPr/>
      </dsp:nvSpPr>
      <dsp:spPr>
        <a:xfrm>
          <a:off x="8186232" y="3869245"/>
          <a:ext cx="2577583" cy="1546549"/>
        </a:xfrm>
        <a:prstGeom prst="roundRect">
          <a:avLst>
            <a:gd name="adj" fmla="val 10000"/>
          </a:avLst>
        </a:prstGeom>
        <a:solidFill>
          <a:prstClr val="black">
            <a:lumMod val="65000"/>
            <a:lumOff val="35000"/>
          </a:prst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white"/>
              </a:solidFill>
              <a:latin typeface="Calibri" panose="020F0502020204030204"/>
              <a:ea typeface="+mn-ea"/>
              <a:cs typeface="+mn-cs"/>
            </a:rPr>
            <a:t>Presentation to the Audience</a:t>
          </a:r>
        </a:p>
      </dsp:txBody>
      <dsp:txXfrm>
        <a:off x="8231529" y="3914542"/>
        <a:ext cx="2486989" cy="1455955"/>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1/5/2026</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3786827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849E9A-41F7-4779-A581-48A7C374A227}" type="slidenum">
              <a:rPr lang="en-US" smtClean="0"/>
              <a:t>11</a:t>
            </a:fld>
            <a:endParaRPr lang="en-US" dirty="0"/>
          </a:p>
        </p:txBody>
      </p:sp>
    </p:spTree>
    <p:extLst>
      <p:ext uri="{BB962C8B-B14F-4D97-AF65-F5344CB8AC3E}">
        <p14:creationId xmlns:p14="http://schemas.microsoft.com/office/powerpoint/2010/main" val="2541142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C44825C3-D2CD-4B82-8545-92FEB5E6C2F7}" type="datetime1">
              <a:rPr lang="en-US" smtClean="0"/>
              <a:t>1/5/2026</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2981DDB5-4B36-48F7-9299-013168A54AB1}" type="datetime1">
              <a:rPr lang="en-US" smtClean="0"/>
              <a:t>1/5/2026</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a:xfrm>
            <a:off x="9448800" y="6475058"/>
            <a:ext cx="2743200" cy="365125"/>
          </a:xfrm>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C0D7562E-5EF9-4ADF-8B24-1497300B7EC9}" type="datetime1">
              <a:rPr lang="en-US" smtClean="0"/>
              <a:t>1/5/2026</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59F64EFA-17FC-4BE1-98CC-B03A84A2D452}" type="datetime1">
              <a:rPr lang="en-US" smtClean="0"/>
              <a:t>1/5/2026</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8B0833AE-BC4A-4CB4-89B4-3C412D1DB39F}" type="datetime1">
              <a:rPr lang="en-US" smtClean="0"/>
              <a:t>1/5/2026</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0583914-156B-4C99-A65F-925C9D23B601}" type="datetime1">
              <a:rPr lang="en-US" smtClean="0"/>
              <a:t>1/5/2026</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C403CE02-D28B-49E2-B796-C187F09CE036}" type="datetime1">
              <a:rPr lang="en-US" smtClean="0"/>
              <a:t>1/5/2026</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F2D0AE3E-946C-4949-A7C8-A1C35EE7B7D7}" type="datetime1">
              <a:rPr lang="en-US" smtClean="0"/>
              <a:t>1/5/2026</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19EBB581-B09E-4A0B-ACC1-A012FC1F6A9C}" type="datetime1">
              <a:rPr lang="en-US" smtClean="0"/>
              <a:t>1/5/2026</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B9789E1E-8798-463F-A1F1-6CBBE078A47D}" type="datetime1">
              <a:rPr lang="en-US" smtClean="0"/>
              <a:t>1/5/2026</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661EA38-4FDD-4687-A896-8A46AFCF2194}" type="datetime1">
              <a:rPr lang="en-US" smtClean="0"/>
              <a:t>1/5/2026</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8D666D-05C6-49A2-829B-1DED6C95E5FC}" type="datetime1">
              <a:rPr lang="en-US" smtClean="0"/>
              <a:t>1/5/2026</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9439922" y="648058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linicaltrials.gov/study/NCT00000625" TargetMode="External"/><Relationship Id="rId2" Type="http://schemas.openxmlformats.org/officeDocument/2006/relationships/hyperlink" Target="https://archive.ics.uci.edu/dataset/890/aids+clinical+trials+group+study+175" TargetMode="External"/><Relationship Id="rId1" Type="http://schemas.openxmlformats.org/officeDocument/2006/relationships/slideLayout" Target="../slideLayouts/slideLayout2.xml"/><Relationship Id="rId4" Type="http://schemas.openxmlformats.org/officeDocument/2006/relationships/hyperlink" Target="https://pubmed.ncbi.nlm.nih.gov/881303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em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096870" y="4455492"/>
            <a:ext cx="7964206" cy="1363215"/>
          </a:xfrm>
        </p:spPr>
        <p:txBody>
          <a:bodyPr anchor="t">
            <a:normAutofit/>
          </a:bodyPr>
          <a:lstStyle/>
          <a:p>
            <a:pPr algn="l"/>
            <a:r>
              <a:rPr lang="en-US" sz="3400" dirty="0">
                <a:latin typeface="Franklin Gothic Book" panose="020B0503020102020204" pitchFamily="34" charset="0"/>
                <a:cs typeface="Segoe UI" panose="020B0502040204020203" pitchFamily="34" charset="0"/>
              </a:rPr>
              <a:t>Study on Effect and efficacy of different AIDS treatment protocols</a:t>
            </a: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152233" y="3878754"/>
            <a:ext cx="5609219" cy="576738"/>
          </a:xfrm>
        </p:spPr>
        <p:txBody>
          <a:bodyPr anchor="b">
            <a:normAutofit/>
          </a:bodyPr>
          <a:lstStyle/>
          <a:p>
            <a:pPr algn="l"/>
            <a:r>
              <a:rPr lang="en-US" sz="2000" dirty="0">
                <a:latin typeface="Franklin Gothic Book" panose="020B0503020102020204" pitchFamily="34" charset="0"/>
              </a:rPr>
              <a:t>Computation Math and Statistics Final Project</a:t>
            </a: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25024" y="327889"/>
            <a:ext cx="2260711" cy="2260711"/>
          </a:xfrm>
          <a:prstGeom prst="rect">
            <a:avLst/>
          </a:prstGeom>
        </p:spPr>
      </p:pic>
      <p:sp>
        <p:nvSpPr>
          <p:cNvPr id="4" name="Subtitle 2">
            <a:extLst>
              <a:ext uri="{FF2B5EF4-FFF2-40B4-BE49-F238E27FC236}">
                <a16:creationId xmlns:a16="http://schemas.microsoft.com/office/drawing/2014/main" id="{7DD22E01-174C-8A73-1C14-10B3C46D13B0}"/>
              </a:ext>
            </a:extLst>
          </p:cNvPr>
          <p:cNvSpPr txBox="1">
            <a:spLocks/>
          </p:cNvSpPr>
          <p:nvPr/>
        </p:nvSpPr>
        <p:spPr>
          <a:xfrm>
            <a:off x="6451857" y="5728124"/>
            <a:ext cx="5609219" cy="1071508"/>
          </a:xfrm>
          <a:prstGeom prst="rect">
            <a:avLst/>
          </a:prstGeom>
        </p:spPr>
        <p:txBody>
          <a:bodyPr vert="horz" lIns="91440" tIns="45720" rIns="91440" bIns="4572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endParaRPr lang="en-US" sz="1600" dirty="0">
              <a:latin typeface="Franklin Gothic Book" panose="020B0503020102020204" pitchFamily="34" charset="0"/>
            </a:endParaRPr>
          </a:p>
        </p:txBody>
      </p:sp>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C9D9A-09C0-EC2A-818E-C070B0183557}"/>
              </a:ext>
            </a:extLst>
          </p:cNvPr>
          <p:cNvSpPr>
            <a:spLocks noGrp="1"/>
          </p:cNvSpPr>
          <p:nvPr>
            <p:ph type="title"/>
          </p:nvPr>
        </p:nvSpPr>
        <p:spPr>
          <a:xfrm>
            <a:off x="194552" y="38912"/>
            <a:ext cx="11997447" cy="578458"/>
          </a:xfrm>
        </p:spPr>
        <p:txBody>
          <a:bodyPr>
            <a:normAutofit/>
          </a:bodyPr>
          <a:lstStyle/>
          <a:p>
            <a:r>
              <a:rPr lang="en-US" sz="3200" b="1" dirty="0"/>
              <a:t>Agenda</a:t>
            </a:r>
          </a:p>
        </p:txBody>
      </p:sp>
      <p:sp>
        <p:nvSpPr>
          <p:cNvPr id="3" name="Content Placeholder 2">
            <a:extLst>
              <a:ext uri="{FF2B5EF4-FFF2-40B4-BE49-F238E27FC236}">
                <a16:creationId xmlns:a16="http://schemas.microsoft.com/office/drawing/2014/main" id="{A93CE71B-F4B2-6B97-58D5-38167268CCC2}"/>
              </a:ext>
            </a:extLst>
          </p:cNvPr>
          <p:cNvSpPr>
            <a:spLocks noGrp="1"/>
          </p:cNvSpPr>
          <p:nvPr>
            <p:ph idx="1"/>
          </p:nvPr>
        </p:nvSpPr>
        <p:spPr>
          <a:xfrm>
            <a:off x="126455" y="775037"/>
            <a:ext cx="11780195" cy="5645218"/>
          </a:xfrm>
        </p:spPr>
        <p:txBody>
          <a:bodyPr/>
          <a:lstStyle/>
          <a:p>
            <a:r>
              <a:rPr lang="en-US" dirty="0"/>
              <a:t>Introduction</a:t>
            </a:r>
          </a:p>
          <a:p>
            <a:r>
              <a:rPr lang="en-US" dirty="0"/>
              <a:t>Understanding the Data and Context</a:t>
            </a:r>
          </a:p>
          <a:p>
            <a:r>
              <a:rPr lang="en-US" dirty="0"/>
              <a:t>Process of the Study</a:t>
            </a:r>
          </a:p>
          <a:p>
            <a:r>
              <a:rPr lang="en-US" dirty="0"/>
              <a:t>Treatment Efficacy Analysis and Findings</a:t>
            </a:r>
          </a:p>
          <a:p>
            <a:pPr lvl="1"/>
            <a:r>
              <a:rPr lang="en-US" dirty="0"/>
              <a:t>Based on survival outcome</a:t>
            </a:r>
          </a:p>
          <a:p>
            <a:pPr lvl="1"/>
            <a:r>
              <a:rPr lang="en-US" dirty="0"/>
              <a:t>Based on c4 count</a:t>
            </a:r>
          </a:p>
          <a:p>
            <a:pPr lvl="1"/>
            <a:r>
              <a:rPr lang="en-US" dirty="0"/>
              <a:t>Based on Immunity</a:t>
            </a:r>
          </a:p>
          <a:p>
            <a:r>
              <a:rPr lang="en-US" dirty="0"/>
              <a:t>Identifying the Best (or Worst) Treatment Group(s)</a:t>
            </a:r>
          </a:p>
          <a:p>
            <a:r>
              <a:rPr lang="en-US" dirty="0"/>
              <a:t>Conclusion</a:t>
            </a:r>
          </a:p>
          <a:p>
            <a:r>
              <a:rPr lang="en-US" dirty="0"/>
              <a:t>Appendix</a:t>
            </a:r>
          </a:p>
        </p:txBody>
      </p:sp>
      <p:sp>
        <p:nvSpPr>
          <p:cNvPr id="4" name="Slide Number Placeholder 3">
            <a:extLst>
              <a:ext uri="{FF2B5EF4-FFF2-40B4-BE49-F238E27FC236}">
                <a16:creationId xmlns:a16="http://schemas.microsoft.com/office/drawing/2014/main" id="{557E341E-645C-DE13-DA54-74C4EBF281AD}"/>
              </a:ext>
            </a:extLst>
          </p:cNvPr>
          <p:cNvSpPr>
            <a:spLocks noGrp="1"/>
          </p:cNvSpPr>
          <p:nvPr>
            <p:ph type="sldNum" sz="quarter" idx="12"/>
          </p:nvPr>
        </p:nvSpPr>
        <p:spPr/>
        <p:txBody>
          <a:bodyPr/>
          <a:lstStyle/>
          <a:p>
            <a:fld id="{A6AF1B4E-90EC-4A51-B6E5-B702C054ECB0}" type="slidenum">
              <a:rPr lang="en-US" smtClean="0"/>
              <a:t>2</a:t>
            </a:fld>
            <a:endParaRPr lang="en-US" dirty="0"/>
          </a:p>
        </p:txBody>
      </p:sp>
    </p:spTree>
    <p:extLst>
      <p:ext uri="{BB962C8B-B14F-4D97-AF65-F5344CB8AC3E}">
        <p14:creationId xmlns:p14="http://schemas.microsoft.com/office/powerpoint/2010/main" val="3868368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874DE-223D-FA7D-33FB-040BB184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E048-81B3-0A77-A7E3-EB6F16AADCDD}"/>
              </a:ext>
            </a:extLst>
          </p:cNvPr>
          <p:cNvSpPr>
            <a:spLocks noGrp="1"/>
          </p:cNvSpPr>
          <p:nvPr>
            <p:ph type="title"/>
          </p:nvPr>
        </p:nvSpPr>
        <p:spPr>
          <a:xfrm>
            <a:off x="194552" y="38912"/>
            <a:ext cx="11997447" cy="578458"/>
          </a:xfrm>
        </p:spPr>
        <p:txBody>
          <a:bodyPr>
            <a:normAutofit/>
          </a:bodyPr>
          <a:lstStyle/>
          <a:p>
            <a:r>
              <a:rPr lang="en-US" sz="3200" b="1" dirty="0"/>
              <a:t>Introduction</a:t>
            </a:r>
          </a:p>
        </p:txBody>
      </p:sp>
      <p:sp>
        <p:nvSpPr>
          <p:cNvPr id="4" name="Slide Number Placeholder 3">
            <a:extLst>
              <a:ext uri="{FF2B5EF4-FFF2-40B4-BE49-F238E27FC236}">
                <a16:creationId xmlns:a16="http://schemas.microsoft.com/office/drawing/2014/main" id="{6C566A7C-D26E-F669-FC0D-D0C3E755215A}"/>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3</a:t>
            </a:fld>
            <a:endParaRPr lang="en-US" dirty="0"/>
          </a:p>
        </p:txBody>
      </p:sp>
      <p:sp>
        <p:nvSpPr>
          <p:cNvPr id="5" name="TextBox 4">
            <a:extLst>
              <a:ext uri="{FF2B5EF4-FFF2-40B4-BE49-F238E27FC236}">
                <a16:creationId xmlns:a16="http://schemas.microsoft.com/office/drawing/2014/main" id="{D5669912-45EC-DB61-EDAF-947780951039}"/>
              </a:ext>
            </a:extLst>
          </p:cNvPr>
          <p:cNvSpPr txBox="1"/>
          <p:nvPr/>
        </p:nvSpPr>
        <p:spPr>
          <a:xfrm>
            <a:off x="214008" y="690765"/>
            <a:ext cx="2480554" cy="369332"/>
          </a:xfrm>
          <a:prstGeom prst="rect">
            <a:avLst/>
          </a:prstGeom>
          <a:solidFill>
            <a:schemeClr val="tx1">
              <a:lumMod val="75000"/>
              <a:lumOff val="25000"/>
            </a:schemeClr>
          </a:solidFill>
        </p:spPr>
        <p:txBody>
          <a:bodyPr wrap="square" rtlCol="0" anchor="ctr">
            <a:spAutoFit/>
          </a:bodyPr>
          <a:lstStyle/>
          <a:p>
            <a:r>
              <a:rPr lang="en-US" dirty="0">
                <a:solidFill>
                  <a:schemeClr val="bg1"/>
                </a:solidFill>
              </a:rPr>
              <a:t>Research Question</a:t>
            </a:r>
          </a:p>
        </p:txBody>
      </p:sp>
      <p:sp>
        <p:nvSpPr>
          <p:cNvPr id="8" name="TextBox 7">
            <a:extLst>
              <a:ext uri="{FF2B5EF4-FFF2-40B4-BE49-F238E27FC236}">
                <a16:creationId xmlns:a16="http://schemas.microsoft.com/office/drawing/2014/main" id="{4B266A28-7521-9C1A-098A-D3A0A7B8514A}"/>
              </a:ext>
            </a:extLst>
          </p:cNvPr>
          <p:cNvSpPr txBox="1"/>
          <p:nvPr/>
        </p:nvSpPr>
        <p:spPr>
          <a:xfrm>
            <a:off x="214008" y="1050371"/>
            <a:ext cx="11773712" cy="1166665"/>
          </a:xfrm>
          <a:prstGeom prst="rect">
            <a:avLst/>
          </a:prstGeom>
          <a:noFill/>
          <a:ln>
            <a:solidFill>
              <a:schemeClr val="bg1">
                <a:lumMod val="75000"/>
              </a:schemeClr>
            </a:solidFill>
          </a:ln>
        </p:spPr>
        <p:txBody>
          <a:bodyPr wrap="square" rtlCol="0">
            <a:noAutofit/>
          </a:bodyPr>
          <a:lstStyle/>
          <a:p>
            <a:pPr marL="285750" indent="-285750" algn="just">
              <a:spcAft>
                <a:spcPts val="200"/>
              </a:spcAft>
              <a:buFont typeface="Arial" panose="020B0604020202020204" pitchFamily="34" charset="0"/>
              <a:buChar char="•"/>
            </a:pPr>
            <a:r>
              <a:rPr lang="en-US" sz="1400" dirty="0"/>
              <a:t>Evaluation of the effect and efficacy of different AIDS treatment protocols across diverse patient demographics</a:t>
            </a:r>
          </a:p>
          <a:p>
            <a:pPr marL="285750" indent="-285750" algn="just">
              <a:spcAft>
                <a:spcPts val="200"/>
              </a:spcAft>
              <a:buFont typeface="Arial" panose="020B0604020202020204" pitchFamily="34" charset="0"/>
              <a:buChar char="•"/>
            </a:pPr>
            <a:r>
              <a:rPr lang="en-US" sz="1400" dirty="0"/>
              <a:t>Treatment protocols: </a:t>
            </a:r>
          </a:p>
          <a:p>
            <a:pPr marL="742950" lvl="1" indent="-285750" algn="just">
              <a:spcAft>
                <a:spcPts val="200"/>
              </a:spcAft>
              <a:buFont typeface="Arial" panose="020B0604020202020204" pitchFamily="34" charset="0"/>
              <a:buChar char="•"/>
            </a:pPr>
            <a:r>
              <a:rPr lang="en-US" sz="1400" dirty="0"/>
              <a:t>Zidovudine alone (ZDV)</a:t>
            </a:r>
          </a:p>
          <a:p>
            <a:pPr marL="742950" lvl="1" indent="-285750" algn="just">
              <a:spcAft>
                <a:spcPts val="200"/>
              </a:spcAft>
              <a:buFont typeface="Arial" panose="020B0604020202020204" pitchFamily="34" charset="0"/>
              <a:buChar char="•"/>
            </a:pPr>
            <a:r>
              <a:rPr lang="en-US" sz="1400" dirty="0"/>
              <a:t>Zidovudine and </a:t>
            </a:r>
            <a:r>
              <a:rPr lang="en-US" sz="1400" dirty="0" err="1"/>
              <a:t>Didanosine</a:t>
            </a:r>
            <a:r>
              <a:rPr lang="en-US" sz="1400" dirty="0"/>
              <a:t> (ZDV + </a:t>
            </a:r>
            <a:r>
              <a:rPr lang="en-US" sz="1400" dirty="0" err="1"/>
              <a:t>ddI</a:t>
            </a:r>
            <a:r>
              <a:rPr lang="en-US" sz="1400" dirty="0"/>
              <a:t>)</a:t>
            </a:r>
          </a:p>
        </p:txBody>
      </p:sp>
      <p:sp>
        <p:nvSpPr>
          <p:cNvPr id="9" name="TextBox 8">
            <a:extLst>
              <a:ext uri="{FF2B5EF4-FFF2-40B4-BE49-F238E27FC236}">
                <a16:creationId xmlns:a16="http://schemas.microsoft.com/office/drawing/2014/main" id="{6A215DBA-30CD-BEBB-D4FB-D8750F42670C}"/>
              </a:ext>
            </a:extLst>
          </p:cNvPr>
          <p:cNvSpPr txBox="1"/>
          <p:nvPr/>
        </p:nvSpPr>
        <p:spPr>
          <a:xfrm>
            <a:off x="223736" y="2378663"/>
            <a:ext cx="2480554" cy="369332"/>
          </a:xfrm>
          <a:prstGeom prst="rect">
            <a:avLst/>
          </a:prstGeom>
          <a:solidFill>
            <a:schemeClr val="tx1">
              <a:lumMod val="75000"/>
              <a:lumOff val="25000"/>
            </a:schemeClr>
          </a:solidFill>
        </p:spPr>
        <p:txBody>
          <a:bodyPr wrap="square" rtlCol="0" anchor="ctr">
            <a:spAutoFit/>
          </a:bodyPr>
          <a:lstStyle/>
          <a:p>
            <a:r>
              <a:rPr lang="en-US" dirty="0">
                <a:solidFill>
                  <a:schemeClr val="bg1"/>
                </a:solidFill>
              </a:rPr>
              <a:t>Data Collection</a:t>
            </a:r>
          </a:p>
        </p:txBody>
      </p:sp>
      <p:sp>
        <p:nvSpPr>
          <p:cNvPr id="10" name="TextBox 9">
            <a:extLst>
              <a:ext uri="{FF2B5EF4-FFF2-40B4-BE49-F238E27FC236}">
                <a16:creationId xmlns:a16="http://schemas.microsoft.com/office/drawing/2014/main" id="{6D9C5C36-4CC4-9ACA-221E-D4B6B21FCBEB}"/>
              </a:ext>
            </a:extLst>
          </p:cNvPr>
          <p:cNvSpPr txBox="1"/>
          <p:nvPr/>
        </p:nvSpPr>
        <p:spPr>
          <a:xfrm>
            <a:off x="223736" y="2738269"/>
            <a:ext cx="11773712" cy="1756042"/>
          </a:xfrm>
          <a:prstGeom prst="rect">
            <a:avLst/>
          </a:prstGeom>
          <a:noFill/>
          <a:ln>
            <a:solidFill>
              <a:schemeClr val="bg1">
                <a:lumMod val="75000"/>
              </a:schemeClr>
            </a:solidFill>
          </a:ln>
        </p:spPr>
        <p:txBody>
          <a:bodyPr wrap="square" rtlCol="0">
            <a:noAutofit/>
          </a:bodyPr>
          <a:lstStyle/>
          <a:p>
            <a:pPr marL="285750" indent="-285750" algn="just">
              <a:spcAft>
                <a:spcPts val="200"/>
              </a:spcAft>
              <a:buFont typeface="Arial" panose="020B0604020202020204" pitchFamily="34" charset="0"/>
              <a:buChar char="•"/>
            </a:pPr>
            <a:r>
              <a:rPr lang="en-US" sz="1400" dirty="0"/>
              <a:t>Experimental Study on Volunteer AIDS patients (12 years or older) for a period of at least 2 years</a:t>
            </a:r>
          </a:p>
          <a:p>
            <a:pPr marL="285750" indent="-285750" algn="just">
              <a:spcAft>
                <a:spcPts val="200"/>
              </a:spcAft>
              <a:buFont typeface="Arial" panose="020B0604020202020204" pitchFamily="34" charset="0"/>
              <a:buChar char="•"/>
            </a:pPr>
            <a:r>
              <a:rPr lang="en-US" sz="1400" dirty="0"/>
              <a:t>Double Masking Study</a:t>
            </a:r>
          </a:p>
          <a:p>
            <a:pPr marL="285750" indent="-285750" algn="just">
              <a:spcAft>
                <a:spcPts val="200"/>
              </a:spcAft>
              <a:buFont typeface="Arial" panose="020B0604020202020204" pitchFamily="34" charset="0"/>
              <a:buChar char="•"/>
            </a:pPr>
            <a:r>
              <a:rPr lang="en-US" sz="1400" dirty="0"/>
              <a:t>Exclusion Criteria</a:t>
            </a:r>
          </a:p>
          <a:p>
            <a:pPr marL="742950" lvl="1" indent="-285750" algn="just">
              <a:spcAft>
                <a:spcPts val="200"/>
              </a:spcAft>
              <a:buFont typeface="Arial" panose="020B0604020202020204" pitchFamily="34" charset="0"/>
              <a:buChar char="•"/>
            </a:pPr>
            <a:r>
              <a:rPr lang="en-US" sz="1400" dirty="0"/>
              <a:t>Co-existing Condition: Other AIDS-related conditions</a:t>
            </a:r>
          </a:p>
          <a:p>
            <a:pPr marL="742950" lvl="1" indent="-285750" algn="just">
              <a:spcAft>
                <a:spcPts val="200"/>
              </a:spcAft>
              <a:buFont typeface="Arial" panose="020B0604020202020204" pitchFamily="34" charset="0"/>
              <a:buChar char="•"/>
            </a:pPr>
            <a:r>
              <a:rPr lang="en-US" sz="1400" dirty="0"/>
              <a:t>Concurrent Medication: Biologic response modifiers</a:t>
            </a:r>
          </a:p>
          <a:p>
            <a:pPr marL="742950" lvl="1" indent="-285750" algn="just">
              <a:spcAft>
                <a:spcPts val="200"/>
              </a:spcAft>
              <a:buFont typeface="Arial" panose="020B0604020202020204" pitchFamily="34" charset="0"/>
              <a:buChar char="•"/>
            </a:pPr>
            <a:r>
              <a:rPr lang="en-US" sz="1400" dirty="0"/>
              <a:t>Concurrent Treatment: Radiotherapy </a:t>
            </a:r>
          </a:p>
          <a:p>
            <a:pPr marL="742950" lvl="1" indent="-285750" algn="just">
              <a:spcAft>
                <a:spcPts val="200"/>
              </a:spcAft>
              <a:buFont typeface="Arial" panose="020B0604020202020204" pitchFamily="34" charset="0"/>
              <a:buChar char="•"/>
            </a:pPr>
            <a:r>
              <a:rPr lang="en-US" sz="1400" dirty="0"/>
              <a:t>Prior Medication: For other ailments within last 14 days</a:t>
            </a:r>
          </a:p>
        </p:txBody>
      </p:sp>
      <p:sp>
        <p:nvSpPr>
          <p:cNvPr id="11" name="TextBox 10">
            <a:extLst>
              <a:ext uri="{FF2B5EF4-FFF2-40B4-BE49-F238E27FC236}">
                <a16:creationId xmlns:a16="http://schemas.microsoft.com/office/drawing/2014/main" id="{25D9B1AF-E9E2-B2C3-3BF2-EFDC5C5B4E15}"/>
              </a:ext>
            </a:extLst>
          </p:cNvPr>
          <p:cNvSpPr txBox="1"/>
          <p:nvPr/>
        </p:nvSpPr>
        <p:spPr>
          <a:xfrm>
            <a:off x="223736" y="4655938"/>
            <a:ext cx="2480554" cy="369332"/>
          </a:xfrm>
          <a:prstGeom prst="rect">
            <a:avLst/>
          </a:prstGeom>
          <a:solidFill>
            <a:schemeClr val="tx1">
              <a:lumMod val="75000"/>
              <a:lumOff val="25000"/>
            </a:schemeClr>
          </a:solidFill>
        </p:spPr>
        <p:txBody>
          <a:bodyPr wrap="square" rtlCol="0" anchor="ctr">
            <a:spAutoFit/>
          </a:bodyPr>
          <a:lstStyle/>
          <a:p>
            <a:r>
              <a:rPr lang="en-US" dirty="0">
                <a:solidFill>
                  <a:schemeClr val="bg1"/>
                </a:solidFill>
              </a:rPr>
              <a:t>Sources</a:t>
            </a:r>
          </a:p>
        </p:txBody>
      </p:sp>
      <p:sp>
        <p:nvSpPr>
          <p:cNvPr id="12" name="TextBox 11">
            <a:extLst>
              <a:ext uri="{FF2B5EF4-FFF2-40B4-BE49-F238E27FC236}">
                <a16:creationId xmlns:a16="http://schemas.microsoft.com/office/drawing/2014/main" id="{6B329333-C933-981D-2D12-98EE451B426D}"/>
              </a:ext>
            </a:extLst>
          </p:cNvPr>
          <p:cNvSpPr txBox="1"/>
          <p:nvPr/>
        </p:nvSpPr>
        <p:spPr>
          <a:xfrm>
            <a:off x="223736" y="5015544"/>
            <a:ext cx="11773712" cy="1599666"/>
          </a:xfrm>
          <a:prstGeom prst="rect">
            <a:avLst/>
          </a:prstGeom>
          <a:noFill/>
          <a:ln>
            <a:solidFill>
              <a:schemeClr val="bg1">
                <a:lumMod val="75000"/>
              </a:schemeClr>
            </a:solidFill>
          </a:ln>
        </p:spPr>
        <p:txBody>
          <a:bodyPr wrap="square" rtlCol="0">
            <a:noAutofit/>
          </a:bodyPr>
          <a:lstStyle/>
          <a:p>
            <a:pPr marL="285750" indent="-285750" algn="just">
              <a:spcAft>
                <a:spcPts val="200"/>
              </a:spcAft>
              <a:buFont typeface="Arial" panose="020B0604020202020204" pitchFamily="34" charset="0"/>
              <a:buChar char="•"/>
            </a:pPr>
            <a:r>
              <a:rPr lang="en-US" sz="1400" dirty="0">
                <a:hlinkClick r:id="rId2"/>
              </a:rPr>
              <a:t>UC </a:t>
            </a:r>
            <a:r>
              <a:rPr lang="en-US" sz="1400" dirty="0" err="1">
                <a:hlinkClick r:id="rId2"/>
              </a:rPr>
              <a:t>Irvene</a:t>
            </a:r>
            <a:r>
              <a:rPr lang="en-US" sz="1400" dirty="0">
                <a:hlinkClick r:id="rId2"/>
              </a:rPr>
              <a:t> Machine Learning Repository</a:t>
            </a:r>
            <a:endParaRPr lang="en-US" sz="1400" dirty="0"/>
          </a:p>
          <a:p>
            <a:pPr marL="285750" indent="-285750" algn="just">
              <a:spcAft>
                <a:spcPts val="200"/>
              </a:spcAft>
              <a:buFont typeface="Arial" panose="020B0604020202020204" pitchFamily="34" charset="0"/>
              <a:buChar char="•"/>
            </a:pPr>
            <a:r>
              <a:rPr lang="en-US" sz="1400" dirty="0">
                <a:hlinkClick r:id="rId3"/>
              </a:rPr>
              <a:t>National Institute of Allergy and Infectious Diseases (NIAID)</a:t>
            </a:r>
            <a:r>
              <a:rPr lang="en-US" sz="1400" dirty="0"/>
              <a:t> – </a:t>
            </a:r>
            <a:r>
              <a:rPr lang="en-US" sz="1400" dirty="0" err="1"/>
              <a:t>ClinicalTrials</a:t>
            </a:r>
            <a:endParaRPr lang="en-US" sz="1400" dirty="0"/>
          </a:p>
          <a:p>
            <a:pPr marL="285750" indent="-285750" algn="just">
              <a:spcAft>
                <a:spcPts val="200"/>
              </a:spcAft>
              <a:buFont typeface="Arial" panose="020B0604020202020204" pitchFamily="34" charset="0"/>
              <a:buChar char="•"/>
            </a:pPr>
            <a:r>
              <a:rPr lang="en-US" sz="1400" dirty="0">
                <a:hlinkClick r:id="rId4"/>
              </a:rPr>
              <a:t>Hammer SM, Katzenstein DA, Hughes MD, </a:t>
            </a:r>
            <a:r>
              <a:rPr lang="en-US" sz="1400" dirty="0" err="1">
                <a:hlinkClick r:id="rId4"/>
              </a:rPr>
              <a:t>Gundacker</a:t>
            </a:r>
            <a:r>
              <a:rPr lang="en-US" sz="1400" dirty="0">
                <a:hlinkClick r:id="rId4"/>
              </a:rPr>
              <a:t> H, Schooley RT, </a:t>
            </a:r>
            <a:r>
              <a:rPr lang="en-US" sz="1400" dirty="0" err="1">
                <a:hlinkClick r:id="rId4"/>
              </a:rPr>
              <a:t>Haubrich</a:t>
            </a:r>
            <a:r>
              <a:rPr lang="en-US" sz="1400" dirty="0">
                <a:hlinkClick r:id="rId4"/>
              </a:rPr>
              <a:t> RH, Henry WK, Lederman MM, Phair JP, Niu M, Hirsch MS, </a:t>
            </a:r>
            <a:r>
              <a:rPr lang="en-US" sz="1400" dirty="0" err="1">
                <a:hlinkClick r:id="rId4"/>
              </a:rPr>
              <a:t>Merigan</a:t>
            </a:r>
            <a:r>
              <a:rPr lang="en-US" sz="1400" dirty="0">
                <a:hlinkClick r:id="rId4"/>
              </a:rPr>
              <a:t> TC. A trial comparing nucleoside monotherapy with combination therapy in HIV-infected adults with CD4 cell counts from 200 to 500 per cubic millimeter. AIDS Clinical Trials Group Study 175 Study Team. N Engl J Med. 1996 Oct 10;335(15):1081-90. </a:t>
            </a:r>
            <a:r>
              <a:rPr lang="en-US" sz="1400" dirty="0" err="1">
                <a:hlinkClick r:id="rId4"/>
              </a:rPr>
              <a:t>doi</a:t>
            </a:r>
            <a:r>
              <a:rPr lang="en-US" sz="1400" dirty="0">
                <a:hlinkClick r:id="rId4"/>
              </a:rPr>
              <a:t>: 10.1056/NEJM199610103351501. PMID: 8813038.</a:t>
            </a:r>
            <a:endParaRPr lang="en-US" sz="1400" dirty="0"/>
          </a:p>
        </p:txBody>
      </p:sp>
      <p:sp>
        <p:nvSpPr>
          <p:cNvPr id="13" name="TextBox 12">
            <a:extLst>
              <a:ext uri="{FF2B5EF4-FFF2-40B4-BE49-F238E27FC236}">
                <a16:creationId xmlns:a16="http://schemas.microsoft.com/office/drawing/2014/main" id="{A4B14BAB-5A79-5D7D-2DA6-2A306071591A}"/>
              </a:ext>
            </a:extLst>
          </p:cNvPr>
          <p:cNvSpPr txBox="1"/>
          <p:nvPr/>
        </p:nvSpPr>
        <p:spPr>
          <a:xfrm>
            <a:off x="4260715" y="1550897"/>
            <a:ext cx="4572000" cy="548868"/>
          </a:xfrm>
          <a:prstGeom prst="rect">
            <a:avLst/>
          </a:prstGeom>
          <a:noFill/>
        </p:spPr>
        <p:txBody>
          <a:bodyPr wrap="square" rtlCol="0">
            <a:spAutoFit/>
          </a:bodyPr>
          <a:lstStyle/>
          <a:p>
            <a:pPr marL="742950" lvl="1" indent="-285750" algn="just">
              <a:spcAft>
                <a:spcPts val="200"/>
              </a:spcAft>
              <a:buFont typeface="Arial" panose="020B0604020202020204" pitchFamily="34" charset="0"/>
              <a:buChar char="•"/>
            </a:pPr>
            <a:r>
              <a:rPr lang="en-US" sz="1400" dirty="0"/>
              <a:t>Zidovudine plus zalcitabine (ZDV + </a:t>
            </a:r>
            <a:r>
              <a:rPr lang="en-US" sz="1400" dirty="0" err="1"/>
              <a:t>ZaL</a:t>
            </a:r>
            <a:r>
              <a:rPr lang="en-US" sz="1400" dirty="0"/>
              <a:t>)</a:t>
            </a:r>
          </a:p>
          <a:p>
            <a:pPr marL="742950" lvl="1" indent="-285750" algn="just">
              <a:spcAft>
                <a:spcPts val="200"/>
              </a:spcAft>
              <a:buFont typeface="Arial" panose="020B0604020202020204" pitchFamily="34" charset="0"/>
              <a:buChar char="•"/>
            </a:pPr>
            <a:r>
              <a:rPr lang="en-US" sz="1400" dirty="0" err="1"/>
              <a:t>Didanosine</a:t>
            </a:r>
            <a:r>
              <a:rPr lang="en-US" sz="1400" dirty="0"/>
              <a:t> alone (</a:t>
            </a:r>
            <a:r>
              <a:rPr lang="en-US" sz="1400" dirty="0" err="1"/>
              <a:t>ddI</a:t>
            </a:r>
            <a:r>
              <a:rPr lang="en-US" sz="1400" dirty="0"/>
              <a:t>)</a:t>
            </a:r>
          </a:p>
        </p:txBody>
      </p:sp>
    </p:spTree>
    <p:extLst>
      <p:ext uri="{BB962C8B-B14F-4D97-AF65-F5344CB8AC3E}">
        <p14:creationId xmlns:p14="http://schemas.microsoft.com/office/powerpoint/2010/main" val="406230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8919-032C-5BEF-8A87-E88902E9C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5E2D5-60B5-F05E-907B-6EADF4040E72}"/>
              </a:ext>
            </a:extLst>
          </p:cNvPr>
          <p:cNvSpPr>
            <a:spLocks noGrp="1"/>
          </p:cNvSpPr>
          <p:nvPr>
            <p:ph type="title"/>
          </p:nvPr>
        </p:nvSpPr>
        <p:spPr>
          <a:xfrm>
            <a:off x="194552" y="38912"/>
            <a:ext cx="11997447" cy="578458"/>
          </a:xfrm>
        </p:spPr>
        <p:txBody>
          <a:bodyPr>
            <a:normAutofit/>
          </a:bodyPr>
          <a:lstStyle/>
          <a:p>
            <a:r>
              <a:rPr lang="en-US" sz="3200" b="1" dirty="0"/>
              <a:t>Understanding the Data and Context(1/3)</a:t>
            </a:r>
          </a:p>
        </p:txBody>
      </p:sp>
      <p:graphicFrame>
        <p:nvGraphicFramePr>
          <p:cNvPr id="15" name="Table 14">
            <a:extLst>
              <a:ext uri="{FF2B5EF4-FFF2-40B4-BE49-F238E27FC236}">
                <a16:creationId xmlns:a16="http://schemas.microsoft.com/office/drawing/2014/main" id="{B251095E-01FE-539C-BAC4-27FC076F5751}"/>
              </a:ext>
            </a:extLst>
          </p:cNvPr>
          <p:cNvGraphicFramePr>
            <a:graphicFrameLocks noGrp="1"/>
          </p:cNvGraphicFramePr>
          <p:nvPr>
            <p:extLst>
              <p:ext uri="{D42A27DB-BD31-4B8C-83A1-F6EECF244321}">
                <p14:modId xmlns:p14="http://schemas.microsoft.com/office/powerpoint/2010/main" val="3141879359"/>
              </p:ext>
            </p:extLst>
          </p:nvPr>
        </p:nvGraphicFramePr>
        <p:xfrm>
          <a:off x="287481" y="1692616"/>
          <a:ext cx="11617037" cy="4979697"/>
        </p:xfrm>
        <a:graphic>
          <a:graphicData uri="http://schemas.openxmlformats.org/drawingml/2006/table">
            <a:tbl>
              <a:tblPr bandRow="1"/>
              <a:tblGrid>
                <a:gridCol w="872101">
                  <a:extLst>
                    <a:ext uri="{9D8B030D-6E8A-4147-A177-3AD203B41FA5}">
                      <a16:colId xmlns:a16="http://schemas.microsoft.com/office/drawing/2014/main" val="392247810"/>
                    </a:ext>
                  </a:extLst>
                </a:gridCol>
                <a:gridCol w="905010">
                  <a:extLst>
                    <a:ext uri="{9D8B030D-6E8A-4147-A177-3AD203B41FA5}">
                      <a16:colId xmlns:a16="http://schemas.microsoft.com/office/drawing/2014/main" val="3226772853"/>
                    </a:ext>
                  </a:extLst>
                </a:gridCol>
                <a:gridCol w="3768982">
                  <a:extLst>
                    <a:ext uri="{9D8B030D-6E8A-4147-A177-3AD203B41FA5}">
                      <a16:colId xmlns:a16="http://schemas.microsoft.com/office/drawing/2014/main" val="731414623"/>
                    </a:ext>
                  </a:extLst>
                </a:gridCol>
                <a:gridCol w="6070944">
                  <a:extLst>
                    <a:ext uri="{9D8B030D-6E8A-4147-A177-3AD203B41FA5}">
                      <a16:colId xmlns:a16="http://schemas.microsoft.com/office/drawing/2014/main" val="3990985304"/>
                    </a:ext>
                  </a:extLst>
                </a:gridCol>
              </a:tblGrid>
              <a:tr h="191972">
                <a:tc>
                  <a:txBody>
                    <a:bodyPr/>
                    <a:lstStyle/>
                    <a:p>
                      <a:pPr algn="ctr" fontAlgn="b"/>
                      <a:r>
                        <a:rPr lang="en-US" sz="1200" b="1" i="0" u="none" strike="noStrike" dirty="0">
                          <a:solidFill>
                            <a:srgbClr val="000000"/>
                          </a:solidFill>
                          <a:effectLst/>
                          <a:latin typeface="Calibri Light" panose="020F0302020204030204" pitchFamily="34" charset="0"/>
                        </a:rPr>
                        <a:t>Feature</a:t>
                      </a:r>
                    </a:p>
                  </a:txBody>
                  <a:tcPr marL="6746" marR="6746" marT="6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Calibri Light" panose="020F0302020204030204" pitchFamily="34" charset="0"/>
                        </a:rPr>
                        <a:t>Type</a:t>
                      </a:r>
                    </a:p>
                  </a:txBody>
                  <a:tcPr marL="6746" marR="6746" marT="6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Calibri Light" panose="020F0302020204030204" pitchFamily="34" charset="0"/>
                        </a:rPr>
                        <a:t>Description</a:t>
                      </a:r>
                    </a:p>
                  </a:txBody>
                  <a:tcPr marL="6746" marR="6746" marT="6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Calibri Light" panose="020F0302020204030204" pitchFamily="34" charset="0"/>
                        </a:rPr>
                        <a:t>Sample Values</a:t>
                      </a:r>
                    </a:p>
                  </a:txBody>
                  <a:tcPr marL="6746" marR="6746" marT="674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1331"/>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pid</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Unique ID for each patient</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10056, 10059,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176199970"/>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cid</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Categorial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Censoring indicator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0=censored, 1=died</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8359178"/>
                  </a:ext>
                </a:extLst>
              </a:tr>
              <a:tr h="191509">
                <a:tc>
                  <a:txBody>
                    <a:bodyPr/>
                    <a:lstStyle/>
                    <a:p>
                      <a:pPr algn="ctr" fontAlgn="b"/>
                      <a:r>
                        <a:rPr lang="en-US" sz="1100" b="0" i="0" u="none" strike="noStrike" dirty="0">
                          <a:solidFill>
                            <a:srgbClr val="000000"/>
                          </a:solidFill>
                          <a:effectLst/>
                          <a:latin typeface="Calibri Light" panose="020F0302020204030204" pitchFamily="34" charset="0"/>
                        </a:rPr>
                        <a:t>time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time to failure or censoring</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948, 1002,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655117975"/>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trt</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treatment indicator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0 = ZDV only; 1 = ZDV + ddI, 2 = ZDV + Zal, 3 = ddI only</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4771482"/>
                  </a:ext>
                </a:extLst>
              </a:tr>
              <a:tr h="191509">
                <a:tc>
                  <a:txBody>
                    <a:bodyPr/>
                    <a:lstStyle/>
                    <a:p>
                      <a:pPr algn="ctr" fontAlgn="b"/>
                      <a:r>
                        <a:rPr lang="en-US" sz="1100" b="0" i="0" u="none" strike="noStrike">
                          <a:solidFill>
                            <a:srgbClr val="000000"/>
                          </a:solidFill>
                          <a:effectLst/>
                          <a:latin typeface="Calibri Light" panose="020F0302020204030204" pitchFamily="34" charset="0"/>
                        </a:rPr>
                        <a:t>age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age (yrs) at baseline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48, 61,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6311180"/>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wtkg</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weight (kg) at baseline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89.8128, 49.4424,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4088461"/>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hemo</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hemophilia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500465997"/>
                  </a:ext>
                </a:extLst>
              </a:tr>
              <a:tr h="191509">
                <a:tc>
                  <a:txBody>
                    <a:bodyPr/>
                    <a:lstStyle/>
                    <a:p>
                      <a:pPr algn="ctr" fontAlgn="b"/>
                      <a:r>
                        <a:rPr lang="en-US" sz="1100" b="0" i="0" u="none" strike="noStrike">
                          <a:solidFill>
                            <a:srgbClr val="000000"/>
                          </a:solidFill>
                          <a:effectLst/>
                          <a:latin typeface="Calibri Light" panose="020F0302020204030204" pitchFamily="34" charset="0"/>
                        </a:rPr>
                        <a:t>homo</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homosexual activity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2704063"/>
                  </a:ext>
                </a:extLst>
              </a:tr>
              <a:tr h="191509">
                <a:tc>
                  <a:txBody>
                    <a:bodyPr/>
                    <a:lstStyle/>
                    <a:p>
                      <a:pPr algn="ctr" fontAlgn="b"/>
                      <a:r>
                        <a:rPr lang="en-US" sz="1100" b="0" i="0" u="none" strike="noStrike">
                          <a:solidFill>
                            <a:srgbClr val="000000"/>
                          </a:solidFill>
                          <a:effectLst/>
                          <a:latin typeface="Calibri Light" panose="020F0302020204030204" pitchFamily="34" charset="0"/>
                        </a:rPr>
                        <a:t>drugs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history of IV drug use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88742230"/>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karnof</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Karnofsky score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on a scale of 0-100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9146933"/>
                  </a:ext>
                </a:extLst>
              </a:tr>
              <a:tr h="191509">
                <a:tc>
                  <a:txBody>
                    <a:bodyPr/>
                    <a:lstStyle/>
                    <a:p>
                      <a:pPr algn="ctr" fontAlgn="b"/>
                      <a:r>
                        <a:rPr lang="en-US" sz="1100" b="0" i="0" u="none" strike="noStrike">
                          <a:solidFill>
                            <a:srgbClr val="000000"/>
                          </a:solidFill>
                          <a:effectLst/>
                          <a:latin typeface="Calibri Light" panose="020F0302020204030204" pitchFamily="34" charset="0"/>
                        </a:rPr>
                        <a:t>oprior</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Non-ZDV antiretroviral therapy pre-175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19389451"/>
                  </a:ext>
                </a:extLst>
              </a:tr>
              <a:tr h="191509">
                <a:tc>
                  <a:txBody>
                    <a:bodyPr/>
                    <a:lstStyle/>
                    <a:p>
                      <a:pPr algn="ctr" fontAlgn="b"/>
                      <a:r>
                        <a:rPr lang="en-US" sz="1100" b="0" i="0" u="none" strike="noStrike" dirty="0">
                          <a:solidFill>
                            <a:srgbClr val="000000"/>
                          </a:solidFill>
                          <a:effectLst/>
                          <a:latin typeface="Calibri Light" panose="020F0302020204030204" pitchFamily="34" charset="0"/>
                        </a:rPr>
                        <a:t>z30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ZDV in the 30 days prior to 175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4385941"/>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zprior</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ZDV prior to 175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0=no, 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93430929"/>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preanti</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 days pre-175 anti-retroviral therapy</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0, 895,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6719097"/>
                  </a:ext>
                </a:extLst>
              </a:tr>
              <a:tr h="191509">
                <a:tc>
                  <a:txBody>
                    <a:bodyPr/>
                    <a:lstStyle/>
                    <a:p>
                      <a:pPr algn="ctr" fontAlgn="b"/>
                      <a:r>
                        <a:rPr lang="en-US" sz="1100" b="0" i="0" u="none" strike="noStrike" dirty="0">
                          <a:solidFill>
                            <a:srgbClr val="000000"/>
                          </a:solidFill>
                          <a:effectLst/>
                          <a:latin typeface="Calibri Light" panose="020F0302020204030204" pitchFamily="34" charset="0"/>
                        </a:rPr>
                        <a:t>race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race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0=White, 1=non-white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72039443"/>
                  </a:ext>
                </a:extLst>
              </a:tr>
              <a:tr h="191509">
                <a:tc>
                  <a:txBody>
                    <a:bodyPr/>
                    <a:lstStyle/>
                    <a:p>
                      <a:pPr algn="ctr" fontAlgn="b"/>
                      <a:r>
                        <a:rPr lang="en-US" sz="1100" b="0" i="0" u="none" strike="noStrike" dirty="0">
                          <a:solidFill>
                            <a:srgbClr val="000000"/>
                          </a:solidFill>
                          <a:effectLst/>
                          <a:latin typeface="Calibri Light" panose="020F0302020204030204" pitchFamily="34" charset="0"/>
                        </a:rPr>
                        <a:t>gender</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Light" panose="020F0302020204030204" pitchFamily="34" charset="0"/>
                        </a:rPr>
                        <a:t>gender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0=F, 1=M</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0372351"/>
                  </a:ext>
                </a:extLst>
              </a:tr>
              <a:tr h="191509">
                <a:tc>
                  <a:txBody>
                    <a:bodyPr/>
                    <a:lstStyle/>
                    <a:p>
                      <a:pPr algn="ctr" fontAlgn="b"/>
                      <a:r>
                        <a:rPr lang="en-US" sz="1100" b="0" i="0" u="none" strike="noStrike" dirty="0">
                          <a:solidFill>
                            <a:srgbClr val="000000"/>
                          </a:solidFill>
                          <a:effectLst/>
                          <a:latin typeface="Calibri Light" panose="020F0302020204030204" pitchFamily="34" charset="0"/>
                        </a:rPr>
                        <a:t>str2</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antiretroviral history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0=naive, 1=experienced</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04760590"/>
                  </a:ext>
                </a:extLst>
              </a:tr>
              <a:tr h="191509">
                <a:tc>
                  <a:txBody>
                    <a:bodyPr/>
                    <a:lstStyle/>
                    <a:p>
                      <a:pPr algn="ctr" fontAlgn="b"/>
                      <a:r>
                        <a:rPr lang="en-US" sz="1100" b="0" i="0" u="none" strike="noStrike" dirty="0" err="1">
                          <a:solidFill>
                            <a:srgbClr val="000000"/>
                          </a:solidFill>
                          <a:effectLst/>
                          <a:latin typeface="Calibri Light" panose="020F0302020204030204" pitchFamily="34" charset="0"/>
                        </a:rPr>
                        <a:t>strat</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antiretroviral history stratification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1='Antiretroviral Naive',2='&gt; 1 but &lt;= 52 weeks of prior antiretroviral therapy',3='&gt; 52 weeks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0423626"/>
                  </a:ext>
                </a:extLst>
              </a:tr>
              <a:tr h="191509">
                <a:tc>
                  <a:txBody>
                    <a:bodyPr/>
                    <a:lstStyle/>
                    <a:p>
                      <a:pPr algn="ctr" fontAlgn="b"/>
                      <a:r>
                        <a:rPr lang="en-US" sz="1100" b="0" i="0" u="none" strike="noStrike">
                          <a:solidFill>
                            <a:srgbClr val="000000"/>
                          </a:solidFill>
                          <a:effectLst/>
                          <a:latin typeface="Calibri Light" panose="020F0302020204030204" pitchFamily="34" charset="0"/>
                        </a:rPr>
                        <a:t>symptom</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symptomatic indicator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a:t>
                      </a:r>
                      <a:r>
                        <a:rPr lang="en-US" sz="1100" b="0" i="0" u="none" strike="noStrike" dirty="0" err="1">
                          <a:solidFill>
                            <a:srgbClr val="000000"/>
                          </a:solidFill>
                          <a:effectLst/>
                          <a:latin typeface="Calibri Light" panose="020F0302020204030204" pitchFamily="34" charset="0"/>
                        </a:rPr>
                        <a:t>asymp</a:t>
                      </a:r>
                      <a:r>
                        <a:rPr lang="en-US" sz="1100" b="0" i="0" u="none" strike="noStrike" dirty="0">
                          <a:solidFill>
                            <a:srgbClr val="000000"/>
                          </a:solidFill>
                          <a:effectLst/>
                          <a:latin typeface="Calibri Light" panose="020F0302020204030204" pitchFamily="34" charset="0"/>
                        </a:rPr>
                        <a:t>, 1=</a:t>
                      </a:r>
                      <a:r>
                        <a:rPr lang="en-US" sz="1100" b="0" i="0" u="none" strike="noStrike" dirty="0" err="1">
                          <a:solidFill>
                            <a:srgbClr val="000000"/>
                          </a:solidFill>
                          <a:effectLst/>
                          <a:latin typeface="Calibri Light" panose="020F0302020204030204" pitchFamily="34" charset="0"/>
                        </a:rPr>
                        <a:t>symp</a:t>
                      </a:r>
                      <a:endParaRPr lang="en-US" sz="1100" b="0" i="0" u="none" strike="noStrike" dirty="0">
                        <a:solidFill>
                          <a:srgbClr val="000000"/>
                        </a:solidFill>
                        <a:effectLst/>
                        <a:latin typeface="Calibri Light" panose="020F0302020204030204" pitchFamily="34" charset="0"/>
                      </a:endParaRP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158369324"/>
                  </a:ext>
                </a:extLst>
              </a:tr>
              <a:tr h="191509">
                <a:tc>
                  <a:txBody>
                    <a:bodyPr/>
                    <a:lstStyle/>
                    <a:p>
                      <a:pPr algn="ctr" fontAlgn="b"/>
                      <a:r>
                        <a:rPr lang="en-US" sz="1100" b="0" i="0" u="none" strike="noStrike">
                          <a:solidFill>
                            <a:srgbClr val="000000"/>
                          </a:solidFill>
                          <a:effectLst/>
                          <a:latin typeface="Calibri Light" panose="020F0302020204030204" pitchFamily="34" charset="0"/>
                        </a:rPr>
                        <a:t>treat</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treatment indicator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0=ZDV only, 1=others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3320033"/>
                  </a:ext>
                </a:extLst>
              </a:tr>
              <a:tr h="191509">
                <a:tc>
                  <a:txBody>
                    <a:bodyPr/>
                    <a:lstStyle/>
                    <a:p>
                      <a:pPr algn="ctr" fontAlgn="b"/>
                      <a:r>
                        <a:rPr lang="en-US" sz="1100" b="0" i="0" u="none" strike="noStrike">
                          <a:solidFill>
                            <a:srgbClr val="000000"/>
                          </a:solidFill>
                          <a:effectLst/>
                          <a:latin typeface="Calibri Light" panose="020F0302020204030204" pitchFamily="34" charset="0"/>
                        </a:rPr>
                        <a:t>offtrt</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Categorical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indicator of off-</a:t>
                      </a:r>
                      <a:r>
                        <a:rPr lang="en-US" sz="1100" b="0" i="0" u="none" strike="noStrike" dirty="0" err="1">
                          <a:solidFill>
                            <a:srgbClr val="000000"/>
                          </a:solidFill>
                          <a:effectLst/>
                          <a:latin typeface="Calibri Light" panose="020F0302020204030204" pitchFamily="34" charset="0"/>
                        </a:rPr>
                        <a:t>trt</a:t>
                      </a:r>
                      <a:r>
                        <a:rPr lang="en-US" sz="1100" b="0" i="0" u="none" strike="noStrike" dirty="0">
                          <a:solidFill>
                            <a:srgbClr val="000000"/>
                          </a:solidFill>
                          <a:effectLst/>
                          <a:latin typeface="Calibri Light" panose="020F0302020204030204" pitchFamily="34" charset="0"/>
                        </a:rPr>
                        <a:t> before 96+/-5 weeks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0=no,1=yes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920827473"/>
                  </a:ext>
                </a:extLst>
              </a:tr>
              <a:tr h="191509">
                <a:tc>
                  <a:txBody>
                    <a:bodyPr/>
                    <a:lstStyle/>
                    <a:p>
                      <a:pPr algn="ctr" fontAlgn="b"/>
                      <a:r>
                        <a:rPr lang="en-US" sz="1100" b="0" i="0" u="none" strike="noStrike">
                          <a:solidFill>
                            <a:srgbClr val="000000"/>
                          </a:solidFill>
                          <a:effectLst/>
                          <a:latin typeface="Calibri Light" panose="020F0302020204030204" pitchFamily="34" charset="0"/>
                        </a:rPr>
                        <a:t>cd40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CD4 at baseline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422, 162,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843115"/>
                  </a:ext>
                </a:extLst>
              </a:tr>
              <a:tr h="191509">
                <a:tc>
                  <a:txBody>
                    <a:bodyPr/>
                    <a:lstStyle/>
                    <a:p>
                      <a:pPr algn="ctr" fontAlgn="b"/>
                      <a:r>
                        <a:rPr lang="en-US" sz="1100" b="0" i="0" u="none" strike="noStrike">
                          <a:solidFill>
                            <a:srgbClr val="000000"/>
                          </a:solidFill>
                          <a:effectLst/>
                          <a:latin typeface="Calibri Light" panose="020F0302020204030204" pitchFamily="34" charset="0"/>
                        </a:rPr>
                        <a:t>cd420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CD4 at 20+/-5 weeks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477, 218,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205796400"/>
                  </a:ext>
                </a:extLst>
              </a:tr>
              <a:tr h="191509">
                <a:tc>
                  <a:txBody>
                    <a:bodyPr/>
                    <a:lstStyle/>
                    <a:p>
                      <a:pPr algn="ctr" fontAlgn="b"/>
                      <a:r>
                        <a:rPr lang="en-US" sz="1100" b="0" i="0" u="none" strike="noStrike">
                          <a:solidFill>
                            <a:srgbClr val="000000"/>
                          </a:solidFill>
                          <a:effectLst/>
                          <a:latin typeface="Calibri Light" panose="020F0302020204030204" pitchFamily="34" charset="0"/>
                        </a:rPr>
                        <a:t>cd80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CD8 at baseline</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Light" panose="020F0302020204030204" pitchFamily="34" charset="0"/>
                        </a:rPr>
                        <a:t>566, 392,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4837997"/>
                  </a:ext>
                </a:extLst>
              </a:tr>
              <a:tr h="191509">
                <a:tc>
                  <a:txBody>
                    <a:bodyPr/>
                    <a:lstStyle/>
                    <a:p>
                      <a:pPr algn="ctr" fontAlgn="b"/>
                      <a:r>
                        <a:rPr lang="en-US" sz="1100" b="0" i="0" u="none" strike="noStrike">
                          <a:solidFill>
                            <a:srgbClr val="000000"/>
                          </a:solidFill>
                          <a:effectLst/>
                          <a:latin typeface="Calibri Light" panose="020F0302020204030204" pitchFamily="34" charset="0"/>
                        </a:rPr>
                        <a:t>cd820</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a:solidFill>
                            <a:srgbClr val="000000"/>
                          </a:solidFill>
                          <a:effectLst/>
                          <a:latin typeface="Calibri Light" panose="020F0302020204030204" pitchFamily="34" charset="0"/>
                        </a:rPr>
                        <a:t>Numerical</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CD8 at 20+/-5 weeks</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100" b="0" i="0" u="none" strike="noStrike" dirty="0">
                          <a:solidFill>
                            <a:srgbClr val="000000"/>
                          </a:solidFill>
                          <a:effectLst/>
                          <a:latin typeface="Calibri Light" panose="020F0302020204030204" pitchFamily="34" charset="0"/>
                        </a:rPr>
                        <a:t>324, 564, …</a:t>
                      </a:r>
                    </a:p>
                  </a:txBody>
                  <a:tcPr marL="6746" marR="6746" marT="674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94432260"/>
                  </a:ext>
                </a:extLst>
              </a:tr>
            </a:tbl>
          </a:graphicData>
        </a:graphic>
      </p:graphicFrame>
      <p:sp>
        <p:nvSpPr>
          <p:cNvPr id="16" name="TextBox 15">
            <a:extLst>
              <a:ext uri="{FF2B5EF4-FFF2-40B4-BE49-F238E27FC236}">
                <a16:creationId xmlns:a16="http://schemas.microsoft.com/office/drawing/2014/main" id="{A4627DE4-F0AC-BEFD-2309-A0567DAD8B22}"/>
              </a:ext>
            </a:extLst>
          </p:cNvPr>
          <p:cNvSpPr txBox="1"/>
          <p:nvPr/>
        </p:nvSpPr>
        <p:spPr>
          <a:xfrm>
            <a:off x="242083" y="685464"/>
            <a:ext cx="2106041" cy="813816"/>
          </a:xfrm>
          <a:prstGeom prst="rect">
            <a:avLst/>
          </a:prstGeom>
          <a:noFill/>
          <a:ln>
            <a:solidFill>
              <a:schemeClr val="bg1">
                <a:lumMod val="75000"/>
              </a:schemeClr>
            </a:solidFill>
          </a:ln>
        </p:spPr>
        <p:txBody>
          <a:bodyPr wrap="square" rtlCol="0" anchor="ctr">
            <a:noAutofit/>
          </a:bodyPr>
          <a:lstStyle/>
          <a:p>
            <a:pPr algn="ctr">
              <a:spcAft>
                <a:spcPts val="200"/>
              </a:spcAft>
            </a:pPr>
            <a:r>
              <a:rPr lang="en-US" sz="1400" dirty="0"/>
              <a:t>25 columns in the table</a:t>
            </a:r>
          </a:p>
        </p:txBody>
      </p:sp>
      <p:sp>
        <p:nvSpPr>
          <p:cNvPr id="17" name="TextBox 16">
            <a:extLst>
              <a:ext uri="{FF2B5EF4-FFF2-40B4-BE49-F238E27FC236}">
                <a16:creationId xmlns:a16="http://schemas.microsoft.com/office/drawing/2014/main" id="{C0CA415C-7887-5C96-7B86-0051A0AB8A9C}"/>
              </a:ext>
            </a:extLst>
          </p:cNvPr>
          <p:cNvSpPr txBox="1"/>
          <p:nvPr/>
        </p:nvSpPr>
        <p:spPr>
          <a:xfrm>
            <a:off x="3427548" y="685464"/>
            <a:ext cx="2106041" cy="813816"/>
          </a:xfrm>
          <a:prstGeom prst="rect">
            <a:avLst/>
          </a:prstGeom>
          <a:solidFill>
            <a:schemeClr val="bg1">
              <a:lumMod val="85000"/>
            </a:schemeClr>
          </a:solidFill>
          <a:ln>
            <a:solidFill>
              <a:schemeClr val="bg1">
                <a:lumMod val="75000"/>
              </a:schemeClr>
            </a:solidFill>
          </a:ln>
        </p:spPr>
        <p:txBody>
          <a:bodyPr wrap="square" rtlCol="0" anchor="ctr">
            <a:noAutofit/>
          </a:bodyPr>
          <a:lstStyle/>
          <a:p>
            <a:pPr algn="ctr">
              <a:spcAft>
                <a:spcPts val="200"/>
              </a:spcAft>
            </a:pPr>
            <a:r>
              <a:rPr lang="en-US" sz="1400" dirty="0"/>
              <a:t>9 Numerical Columns and 15 Categorical Columns</a:t>
            </a:r>
          </a:p>
        </p:txBody>
      </p:sp>
      <p:sp>
        <p:nvSpPr>
          <p:cNvPr id="18" name="TextBox 17">
            <a:extLst>
              <a:ext uri="{FF2B5EF4-FFF2-40B4-BE49-F238E27FC236}">
                <a16:creationId xmlns:a16="http://schemas.microsoft.com/office/drawing/2014/main" id="{2D127DF3-710C-D1EB-AEA7-83CF4CF95818}"/>
              </a:ext>
            </a:extLst>
          </p:cNvPr>
          <p:cNvSpPr txBox="1"/>
          <p:nvPr/>
        </p:nvSpPr>
        <p:spPr>
          <a:xfrm>
            <a:off x="6613013" y="685465"/>
            <a:ext cx="2106041" cy="813816"/>
          </a:xfrm>
          <a:prstGeom prst="rect">
            <a:avLst/>
          </a:prstGeom>
          <a:noFill/>
          <a:ln>
            <a:solidFill>
              <a:schemeClr val="bg1">
                <a:lumMod val="75000"/>
              </a:schemeClr>
            </a:solidFill>
          </a:ln>
        </p:spPr>
        <p:txBody>
          <a:bodyPr wrap="square" rtlCol="0" anchor="ctr">
            <a:noAutofit/>
          </a:bodyPr>
          <a:lstStyle/>
          <a:p>
            <a:pPr algn="ctr">
              <a:spcAft>
                <a:spcPts val="200"/>
              </a:spcAft>
            </a:pPr>
            <a:r>
              <a:rPr lang="en-US" sz="1400" dirty="0" err="1"/>
              <a:t>pid</a:t>
            </a:r>
            <a:r>
              <a:rPr lang="en-US" sz="1400" dirty="0"/>
              <a:t> – ID column and </a:t>
            </a:r>
            <a:r>
              <a:rPr lang="en-US" sz="1400" dirty="0" err="1"/>
              <a:t>cid</a:t>
            </a:r>
            <a:r>
              <a:rPr lang="en-US" sz="1400" dirty="0"/>
              <a:t> – Response variable</a:t>
            </a:r>
          </a:p>
        </p:txBody>
      </p:sp>
      <p:sp>
        <p:nvSpPr>
          <p:cNvPr id="19" name="TextBox 18">
            <a:extLst>
              <a:ext uri="{FF2B5EF4-FFF2-40B4-BE49-F238E27FC236}">
                <a16:creationId xmlns:a16="http://schemas.microsoft.com/office/drawing/2014/main" id="{3BBD1183-4A91-F61B-FEA1-943F14238F11}"/>
              </a:ext>
            </a:extLst>
          </p:cNvPr>
          <p:cNvSpPr txBox="1"/>
          <p:nvPr/>
        </p:nvSpPr>
        <p:spPr>
          <a:xfrm>
            <a:off x="9798477" y="685465"/>
            <a:ext cx="2106041" cy="813816"/>
          </a:xfrm>
          <a:prstGeom prst="rect">
            <a:avLst/>
          </a:prstGeom>
          <a:solidFill>
            <a:schemeClr val="bg1">
              <a:lumMod val="85000"/>
            </a:schemeClr>
          </a:solidFill>
          <a:ln>
            <a:solidFill>
              <a:schemeClr val="bg1">
                <a:lumMod val="75000"/>
              </a:schemeClr>
            </a:solidFill>
          </a:ln>
        </p:spPr>
        <p:txBody>
          <a:bodyPr wrap="square" rtlCol="0" anchor="ctr">
            <a:noAutofit/>
          </a:bodyPr>
          <a:lstStyle/>
          <a:p>
            <a:pPr algn="ctr">
              <a:spcAft>
                <a:spcPts val="200"/>
              </a:spcAft>
            </a:pPr>
            <a:r>
              <a:rPr lang="en-US" sz="1400" dirty="0"/>
              <a:t>2139 records</a:t>
            </a:r>
          </a:p>
        </p:txBody>
      </p:sp>
      <p:sp>
        <p:nvSpPr>
          <p:cNvPr id="3" name="Slide Number Placeholder 3">
            <a:extLst>
              <a:ext uri="{FF2B5EF4-FFF2-40B4-BE49-F238E27FC236}">
                <a16:creationId xmlns:a16="http://schemas.microsoft.com/office/drawing/2014/main" id="{A48B3DBD-D259-1286-1AF9-1247563DBF44}"/>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4</a:t>
            </a:fld>
            <a:endParaRPr lang="en-US" dirty="0"/>
          </a:p>
        </p:txBody>
      </p:sp>
    </p:spTree>
    <p:extLst>
      <p:ext uri="{BB962C8B-B14F-4D97-AF65-F5344CB8AC3E}">
        <p14:creationId xmlns:p14="http://schemas.microsoft.com/office/powerpoint/2010/main" val="138958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06C17-3E47-35DF-443D-62D9146EF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CAF50-35C1-2D59-428D-439C494B1C7F}"/>
              </a:ext>
            </a:extLst>
          </p:cNvPr>
          <p:cNvSpPr>
            <a:spLocks noGrp="1"/>
          </p:cNvSpPr>
          <p:nvPr>
            <p:ph type="title"/>
          </p:nvPr>
        </p:nvSpPr>
        <p:spPr>
          <a:xfrm>
            <a:off x="194552" y="38912"/>
            <a:ext cx="11997447" cy="578458"/>
          </a:xfrm>
        </p:spPr>
        <p:txBody>
          <a:bodyPr>
            <a:normAutofit/>
          </a:bodyPr>
          <a:lstStyle/>
          <a:p>
            <a:r>
              <a:rPr lang="en-US" sz="3200" b="1" dirty="0"/>
              <a:t>Understanding the Data and Context (2/3)</a:t>
            </a:r>
          </a:p>
        </p:txBody>
      </p:sp>
      <p:pic>
        <p:nvPicPr>
          <p:cNvPr id="6" name="Picture 5">
            <a:extLst>
              <a:ext uri="{FF2B5EF4-FFF2-40B4-BE49-F238E27FC236}">
                <a16:creationId xmlns:a16="http://schemas.microsoft.com/office/drawing/2014/main" id="{4AD04974-655F-2D4F-EFA5-E685A7955BCA}"/>
              </a:ext>
            </a:extLst>
          </p:cNvPr>
          <p:cNvPicPr>
            <a:picLocks noChangeAspect="1"/>
          </p:cNvPicPr>
          <p:nvPr/>
        </p:nvPicPr>
        <p:blipFill>
          <a:blip r:embed="rId2"/>
          <a:stretch>
            <a:fillRect/>
          </a:stretch>
        </p:blipFill>
        <p:spPr>
          <a:xfrm>
            <a:off x="720263" y="1080654"/>
            <a:ext cx="3801835" cy="4177145"/>
          </a:xfrm>
          <a:prstGeom prst="rect">
            <a:avLst/>
          </a:prstGeom>
        </p:spPr>
      </p:pic>
      <p:pic>
        <p:nvPicPr>
          <p:cNvPr id="8" name="Picture 7">
            <a:extLst>
              <a:ext uri="{FF2B5EF4-FFF2-40B4-BE49-F238E27FC236}">
                <a16:creationId xmlns:a16="http://schemas.microsoft.com/office/drawing/2014/main" id="{E61F9E42-F4A8-15AE-FBEB-520476ED7607}"/>
              </a:ext>
            </a:extLst>
          </p:cNvPr>
          <p:cNvPicPr>
            <a:picLocks noChangeAspect="1"/>
          </p:cNvPicPr>
          <p:nvPr/>
        </p:nvPicPr>
        <p:blipFill>
          <a:blip r:embed="rId3"/>
          <a:stretch>
            <a:fillRect/>
          </a:stretch>
        </p:blipFill>
        <p:spPr>
          <a:xfrm>
            <a:off x="7204190" y="904009"/>
            <a:ext cx="4076098" cy="4478482"/>
          </a:xfrm>
          <a:prstGeom prst="rect">
            <a:avLst/>
          </a:prstGeom>
        </p:spPr>
      </p:pic>
      <p:sp>
        <p:nvSpPr>
          <p:cNvPr id="3" name="Slide Number Placeholder 3">
            <a:extLst>
              <a:ext uri="{FF2B5EF4-FFF2-40B4-BE49-F238E27FC236}">
                <a16:creationId xmlns:a16="http://schemas.microsoft.com/office/drawing/2014/main" id="{BF0F620B-2430-A46E-9AB5-B070E9BE8E10}"/>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5</a:t>
            </a:fld>
            <a:endParaRPr lang="en-US" dirty="0"/>
          </a:p>
        </p:txBody>
      </p:sp>
      <p:sp>
        <p:nvSpPr>
          <p:cNvPr id="4" name="TextBox 3">
            <a:extLst>
              <a:ext uri="{FF2B5EF4-FFF2-40B4-BE49-F238E27FC236}">
                <a16:creationId xmlns:a16="http://schemas.microsoft.com/office/drawing/2014/main" id="{2A2801A1-8434-015C-0E57-5310A2D53413}"/>
              </a:ext>
            </a:extLst>
          </p:cNvPr>
          <p:cNvSpPr txBox="1"/>
          <p:nvPr/>
        </p:nvSpPr>
        <p:spPr>
          <a:xfrm>
            <a:off x="486383" y="5556509"/>
            <a:ext cx="4153711" cy="738664"/>
          </a:xfrm>
          <a:prstGeom prst="rect">
            <a:avLst/>
          </a:prstGeom>
          <a:solidFill>
            <a:schemeClr val="bg1">
              <a:lumMod val="95000"/>
            </a:schemeClr>
          </a:solidFill>
        </p:spPr>
        <p:txBody>
          <a:bodyPr wrap="square" rtlCol="0">
            <a:spAutoFit/>
          </a:bodyPr>
          <a:lstStyle/>
          <a:p>
            <a:pPr algn="just">
              <a:spcAft>
                <a:spcPts val="200"/>
              </a:spcAft>
            </a:pPr>
            <a:r>
              <a:rPr lang="en-US" sz="1400" dirty="0"/>
              <a:t>Imbalanced target variable with majority of the patients being alive (censored) during the period of the treatment</a:t>
            </a:r>
          </a:p>
        </p:txBody>
      </p:sp>
      <p:sp>
        <p:nvSpPr>
          <p:cNvPr id="5" name="TextBox 4">
            <a:extLst>
              <a:ext uri="{FF2B5EF4-FFF2-40B4-BE49-F238E27FC236}">
                <a16:creationId xmlns:a16="http://schemas.microsoft.com/office/drawing/2014/main" id="{37CF4EDA-315C-1C3A-0E2E-EB8104F66931}"/>
              </a:ext>
            </a:extLst>
          </p:cNvPr>
          <p:cNvSpPr txBox="1"/>
          <p:nvPr/>
        </p:nvSpPr>
        <p:spPr>
          <a:xfrm>
            <a:off x="7204190" y="5556509"/>
            <a:ext cx="4153711" cy="523220"/>
          </a:xfrm>
          <a:prstGeom prst="rect">
            <a:avLst/>
          </a:prstGeom>
          <a:solidFill>
            <a:schemeClr val="bg1">
              <a:lumMod val="95000"/>
            </a:schemeClr>
          </a:solidFill>
        </p:spPr>
        <p:txBody>
          <a:bodyPr wrap="square" rtlCol="0">
            <a:spAutoFit/>
          </a:bodyPr>
          <a:lstStyle/>
          <a:p>
            <a:pPr algn="just">
              <a:spcBef>
                <a:spcPts val="200"/>
              </a:spcBef>
            </a:pPr>
            <a:r>
              <a:rPr lang="en-US" sz="1400" dirty="0"/>
              <a:t>The Treatment groups have similar proportion of patients</a:t>
            </a:r>
          </a:p>
        </p:txBody>
      </p:sp>
    </p:spTree>
    <p:extLst>
      <p:ext uri="{BB962C8B-B14F-4D97-AF65-F5344CB8AC3E}">
        <p14:creationId xmlns:p14="http://schemas.microsoft.com/office/powerpoint/2010/main" val="2092913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BADE-21D1-EF68-35D9-8A243B538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4589F-058B-593B-D07D-1562273D2FC4}"/>
              </a:ext>
            </a:extLst>
          </p:cNvPr>
          <p:cNvSpPr>
            <a:spLocks noGrp="1"/>
          </p:cNvSpPr>
          <p:nvPr>
            <p:ph type="title"/>
          </p:nvPr>
        </p:nvSpPr>
        <p:spPr>
          <a:xfrm>
            <a:off x="194552" y="38912"/>
            <a:ext cx="11997447" cy="578458"/>
          </a:xfrm>
        </p:spPr>
        <p:txBody>
          <a:bodyPr>
            <a:normAutofit/>
          </a:bodyPr>
          <a:lstStyle/>
          <a:p>
            <a:r>
              <a:rPr lang="en-US" sz="3200" b="1" dirty="0"/>
              <a:t>Understanding the Data and Context (3/3)</a:t>
            </a:r>
          </a:p>
        </p:txBody>
      </p:sp>
      <p:sp>
        <p:nvSpPr>
          <p:cNvPr id="3" name="Slide Number Placeholder 3">
            <a:extLst>
              <a:ext uri="{FF2B5EF4-FFF2-40B4-BE49-F238E27FC236}">
                <a16:creationId xmlns:a16="http://schemas.microsoft.com/office/drawing/2014/main" id="{251FA740-253A-DED3-24DE-EE4D4EE17FE1}"/>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D576BBC-B665-5D15-9FDC-DBF4A4343C60}"/>
                  </a:ext>
                </a:extLst>
              </p:cNvPr>
              <p:cNvSpPr txBox="1"/>
              <p:nvPr/>
            </p:nvSpPr>
            <p:spPr>
              <a:xfrm>
                <a:off x="214008" y="694945"/>
                <a:ext cx="11773712" cy="1493356"/>
              </a:xfrm>
              <a:prstGeom prst="rect">
                <a:avLst/>
              </a:prstGeom>
              <a:noFill/>
              <a:ln>
                <a:solidFill>
                  <a:schemeClr val="bg1">
                    <a:lumMod val="75000"/>
                  </a:schemeClr>
                </a:solidFill>
              </a:ln>
            </p:spPr>
            <p:txBody>
              <a:bodyPr wrap="square" rtlCol="0">
                <a:noAutofit/>
              </a:bodyPr>
              <a:lstStyle/>
              <a:p>
                <a:pPr algn="just">
                  <a:spcBef>
                    <a:spcPts val="200"/>
                  </a:spcBef>
                </a:pPr>
                <a:r>
                  <a:rPr lang="en-US" sz="1400" dirty="0"/>
                  <a:t>Some context for the treatment effectiveness</a:t>
                </a:r>
              </a:p>
              <a:p>
                <a:pPr marL="285750" indent="-285750" algn="just">
                  <a:spcBef>
                    <a:spcPts val="200"/>
                  </a:spcBef>
                  <a:buFont typeface="Arial" panose="020B0604020202020204" pitchFamily="34" charset="0"/>
                  <a:buChar char="•"/>
                </a:pPr>
                <a:r>
                  <a:rPr lang="en-US" sz="1400" dirty="0"/>
                  <a:t>Weakens the immune system, making it harder to fight off infections and illnesses</a:t>
                </a:r>
              </a:p>
              <a:p>
                <a:pPr marL="285750" indent="-285750" algn="just">
                  <a:spcBef>
                    <a:spcPts val="200"/>
                  </a:spcBef>
                  <a:buFont typeface="Arial" panose="020B0604020202020204" pitchFamily="34" charset="0"/>
                  <a:buChar char="•"/>
                </a:pPr>
                <a:r>
                  <a:rPr lang="en-US" sz="1400" dirty="0"/>
                  <a:t>CD4 – A type of white blood cell that help the body fight infection (also known as T-cells)</a:t>
                </a:r>
              </a:p>
              <a:p>
                <a:pPr marL="285750" indent="-285750" algn="just">
                  <a:spcBef>
                    <a:spcPts val="200"/>
                  </a:spcBef>
                  <a:buFont typeface="Arial" panose="020B0604020202020204" pitchFamily="34" charset="0"/>
                  <a:buChar char="•"/>
                </a:pPr>
                <a:r>
                  <a:rPr lang="en-US" sz="1400" dirty="0"/>
                  <a:t>CD8 – A glycoprotein found on the surface of cells that helps T cells recognize antigens and interact with other cells in the immune system</a:t>
                </a:r>
              </a:p>
              <a:p>
                <a:pPr marL="285750" indent="-285750" algn="just">
                  <a:spcBef>
                    <a:spcPts val="200"/>
                  </a:spcBef>
                  <a:buFont typeface="Arial" panose="020B0604020202020204" pitchFamily="34" charset="0"/>
                  <a:buChar char="•"/>
                </a:pPr>
                <a:r>
                  <a:rPr lang="en-US" sz="1400" dirty="0"/>
                  <a:t>Immunity Factor-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𝑐𝑜𝑢𝑛𝑡</m:t>
                        </m:r>
                        <m:r>
                          <a:rPr lang="en-US" sz="1400" b="0" i="1" smtClean="0">
                            <a:latin typeface="Cambria Math" panose="02040503050406030204" pitchFamily="18" charset="0"/>
                          </a:rPr>
                          <m:t> </m:t>
                        </m:r>
                        <m:r>
                          <a:rPr lang="en-US" sz="1400" b="0" i="1" smtClean="0">
                            <a:latin typeface="Cambria Math" panose="02040503050406030204" pitchFamily="18" charset="0"/>
                          </a:rPr>
                          <m:t>𝑜𝑓</m:t>
                        </m:r>
                        <m:r>
                          <a:rPr lang="en-US" sz="1400" b="0" i="1" smtClean="0">
                            <a:latin typeface="Cambria Math" panose="02040503050406030204" pitchFamily="18" charset="0"/>
                          </a:rPr>
                          <m:t> </m:t>
                        </m:r>
                        <m:r>
                          <a:rPr lang="en-US" sz="1400" b="0" i="1" smtClean="0">
                            <a:latin typeface="Cambria Math" panose="02040503050406030204" pitchFamily="18" charset="0"/>
                          </a:rPr>
                          <m:t>𝐶𝐷</m:t>
                        </m:r>
                        <m:r>
                          <a:rPr lang="en-US" sz="1400" b="0" i="1" smtClean="0">
                            <a:latin typeface="Cambria Math" panose="02040503050406030204" pitchFamily="18" charset="0"/>
                          </a:rPr>
                          <m:t>4 </m:t>
                        </m:r>
                      </m:num>
                      <m:den>
                        <m:r>
                          <a:rPr lang="en-US" sz="1400" b="0" i="1" smtClean="0">
                            <a:latin typeface="Cambria Math" panose="02040503050406030204" pitchFamily="18" charset="0"/>
                          </a:rPr>
                          <m:t>𝑐𝑜𝑢𝑛𝑡</m:t>
                        </m:r>
                        <m:r>
                          <a:rPr lang="en-US" sz="1400" b="0" i="1" smtClean="0">
                            <a:latin typeface="Cambria Math" panose="02040503050406030204" pitchFamily="18" charset="0"/>
                          </a:rPr>
                          <m:t> </m:t>
                        </m:r>
                        <m:r>
                          <a:rPr lang="en-US" sz="1400" b="0" i="1" smtClean="0">
                            <a:latin typeface="Cambria Math" panose="02040503050406030204" pitchFamily="18" charset="0"/>
                          </a:rPr>
                          <m:t>𝑜𝑓</m:t>
                        </m:r>
                        <m:r>
                          <a:rPr lang="en-US" sz="1400" b="0" i="1" smtClean="0">
                            <a:latin typeface="Cambria Math" panose="02040503050406030204" pitchFamily="18" charset="0"/>
                          </a:rPr>
                          <m:t> </m:t>
                        </m:r>
                        <m:r>
                          <a:rPr lang="en-US" sz="1400" b="0" i="1" smtClean="0">
                            <a:latin typeface="Cambria Math" panose="02040503050406030204" pitchFamily="18" charset="0"/>
                          </a:rPr>
                          <m:t>𝐶𝐷</m:t>
                        </m:r>
                        <m:r>
                          <a:rPr lang="en-US" sz="1400" b="0" i="1" smtClean="0">
                            <a:latin typeface="Cambria Math" panose="02040503050406030204" pitchFamily="18" charset="0"/>
                          </a:rPr>
                          <m:t>8</m:t>
                        </m:r>
                      </m:den>
                    </m:f>
                  </m:oMath>
                </a14:m>
                <a:endParaRPr lang="en-US" sz="1400" dirty="0"/>
              </a:p>
            </p:txBody>
          </p:sp>
        </mc:Choice>
        <mc:Fallback xmlns="">
          <p:sp>
            <p:nvSpPr>
              <p:cNvPr id="7" name="TextBox 6">
                <a:extLst>
                  <a:ext uri="{FF2B5EF4-FFF2-40B4-BE49-F238E27FC236}">
                    <a16:creationId xmlns:a16="http://schemas.microsoft.com/office/drawing/2014/main" id="{AD576BBC-B665-5D15-9FDC-DBF4A4343C60}"/>
                  </a:ext>
                </a:extLst>
              </p:cNvPr>
              <p:cNvSpPr txBox="1">
                <a:spLocks noRot="1" noChangeAspect="1" noMove="1" noResize="1" noEditPoints="1" noAdjustHandles="1" noChangeArrowheads="1" noChangeShapeType="1" noTextEdit="1"/>
              </p:cNvSpPr>
              <p:nvPr/>
            </p:nvSpPr>
            <p:spPr>
              <a:xfrm>
                <a:off x="214008" y="694945"/>
                <a:ext cx="11773712" cy="1493356"/>
              </a:xfrm>
              <a:prstGeom prst="rect">
                <a:avLst/>
              </a:prstGeom>
              <a:blipFill>
                <a:blip r:embed="rId2"/>
                <a:stretch>
                  <a:fillRect l="-103" t="-405"/>
                </a:stretch>
              </a:blipFill>
              <a:ln>
                <a:solidFill>
                  <a:schemeClr val="bg1">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3E77B3A-A04E-48F9-C113-3A48EB467078}"/>
                  </a:ext>
                </a:extLst>
              </p:cNvPr>
              <p:cNvSpPr txBox="1"/>
              <p:nvPr/>
            </p:nvSpPr>
            <p:spPr>
              <a:xfrm>
                <a:off x="214008" y="2463356"/>
                <a:ext cx="11773712" cy="1270819"/>
              </a:xfrm>
              <a:prstGeom prst="rect">
                <a:avLst/>
              </a:prstGeom>
              <a:noFill/>
              <a:ln>
                <a:solidFill>
                  <a:schemeClr val="bg1">
                    <a:lumMod val="75000"/>
                  </a:schemeClr>
                </a:solidFill>
              </a:ln>
            </p:spPr>
            <p:txBody>
              <a:bodyPr wrap="square" rtlCol="0">
                <a:noAutofit/>
              </a:bodyPr>
              <a:lstStyle/>
              <a:p>
                <a:pPr algn="just">
                  <a:spcBef>
                    <a:spcPts val="200"/>
                  </a:spcBef>
                </a:pPr>
                <a:r>
                  <a:rPr lang="en-US" sz="1400" dirty="0"/>
                  <a:t>Derived variables to understand the effectiveness of the treatment by monitoring its progress over time.</a:t>
                </a:r>
              </a:p>
              <a:p>
                <a:pPr marL="285750" indent="-285750" algn="just">
                  <a:spcBef>
                    <a:spcPts val="200"/>
                  </a:spcBef>
                  <a:buFont typeface="Arial" panose="020B0604020202020204" pitchFamily="34" charset="0"/>
                  <a:buChar char="•"/>
                </a:pPr>
                <a14:m>
                  <m:oMath xmlns:m="http://schemas.openxmlformats.org/officeDocument/2006/math">
                    <m:r>
                      <m:rPr>
                        <m:nor/>
                      </m:rPr>
                      <a:rPr lang="en-US" sz="1400" dirty="0"/>
                      <m:t>Difference</m:t>
                    </m:r>
                    <m:r>
                      <m:rPr>
                        <m:nor/>
                      </m:rPr>
                      <a:rPr lang="en-US" sz="1400" dirty="0"/>
                      <m:t> </m:t>
                    </m:r>
                    <m:r>
                      <m:rPr>
                        <m:nor/>
                      </m:rPr>
                      <a:rPr lang="en-US" sz="1400" dirty="0"/>
                      <m:t>in</m:t>
                    </m:r>
                    <m:r>
                      <m:rPr>
                        <m:nor/>
                      </m:rPr>
                      <a:rPr lang="en-US" sz="1400" dirty="0"/>
                      <m:t> </m:t>
                    </m:r>
                    <m:r>
                      <m:rPr>
                        <m:nor/>
                      </m:rPr>
                      <a:rPr lang="en-US" sz="1400" dirty="0"/>
                      <m:t>CD</m:t>
                    </m:r>
                    <m:r>
                      <m:rPr>
                        <m:nor/>
                      </m:rPr>
                      <a:rPr lang="en-US" sz="1400" dirty="0"/>
                      <m:t>4 </m:t>
                    </m:r>
                    <m:r>
                      <m:rPr>
                        <m:nor/>
                      </m:rPr>
                      <a:rPr lang="en-US" sz="1400" dirty="0"/>
                      <m:t>count</m:t>
                    </m:r>
                    <m:r>
                      <m:rPr>
                        <m:nor/>
                      </m:rPr>
                      <a:rPr lang="en-US" sz="1400" dirty="0"/>
                      <m:t> </m:t>
                    </m:r>
                    <m:r>
                      <m:rPr>
                        <m:nor/>
                      </m:rPr>
                      <a:rPr lang="en-US" sz="1400" dirty="0"/>
                      <m:t>in</m:t>
                    </m:r>
                    <m:r>
                      <m:rPr>
                        <m:nor/>
                      </m:rPr>
                      <a:rPr lang="en-US" sz="1400" dirty="0"/>
                      <m:t> 20 </m:t>
                    </m:r>
                    <m:r>
                      <m:rPr>
                        <m:nor/>
                      </m:rPr>
                      <a:rPr lang="en-US" sz="1400" dirty="0"/>
                      <m:t>weeks</m:t>
                    </m:r>
                    <m:r>
                      <m:rPr>
                        <m:nor/>
                      </m:rPr>
                      <a:rPr lang="en-US" sz="1400" dirty="0"/>
                      <m:t> </m:t>
                    </m:r>
                    <m:r>
                      <m:rPr>
                        <m:nor/>
                      </m:rPr>
                      <a:rPr lang="en-US" sz="1400" dirty="0"/>
                      <m:t>post</m:t>
                    </m:r>
                    <m:r>
                      <m:rPr>
                        <m:nor/>
                      </m:rPr>
                      <a:rPr lang="en-US" sz="1400" dirty="0"/>
                      <m:t> </m:t>
                    </m:r>
                    <m:r>
                      <m:rPr>
                        <m:nor/>
                      </m:rPr>
                      <a:rPr lang="en-US" sz="1400" dirty="0"/>
                      <m:t>treatment</m:t>
                    </m:r>
                    <m:r>
                      <a:rPr lang="en-US" sz="1400" i="1" smtClean="0">
                        <a:latin typeface="Cambria Math" panose="02040503050406030204" pitchFamily="18" charset="0"/>
                      </a:rPr>
                      <m:t>=</m:t>
                    </m:r>
                    <m:r>
                      <a:rPr lang="en-US" sz="1400" b="0" i="1" smtClean="0">
                        <a:latin typeface="Cambria Math" panose="02040503050406030204" pitchFamily="18" charset="0"/>
                      </a:rPr>
                      <m:t>𝐶𝐷</m:t>
                    </m:r>
                    <m:r>
                      <a:rPr lang="en-US" sz="1400" b="0" i="1" smtClean="0">
                        <a:latin typeface="Cambria Math" panose="02040503050406030204" pitchFamily="18" charset="0"/>
                      </a:rPr>
                      <m:t>4</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20</m:t>
                        </m:r>
                      </m:e>
                    </m:d>
                    <m:r>
                      <a:rPr lang="en-US" sz="1400" b="0" i="1" smtClean="0">
                        <a:latin typeface="Cambria Math" panose="02040503050406030204" pitchFamily="18" charset="0"/>
                      </a:rPr>
                      <m:t>−</m:t>
                    </m:r>
                    <m:r>
                      <a:rPr lang="en-US" sz="1400" b="0" i="1" smtClean="0">
                        <a:latin typeface="Cambria Math" panose="02040503050406030204" pitchFamily="18" charset="0"/>
                      </a:rPr>
                      <m:t>𝐶𝐷</m:t>
                    </m:r>
                    <m:r>
                      <a:rPr lang="en-US" sz="1400" b="0" i="1" smtClean="0">
                        <a:latin typeface="Cambria Math" panose="02040503050406030204" pitchFamily="18" charset="0"/>
                      </a:rPr>
                      <m:t>4</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0</m:t>
                        </m:r>
                      </m:e>
                    </m:d>
                  </m:oMath>
                </a14:m>
                <a:endParaRPr lang="en-US" sz="1400" b="0" dirty="0"/>
              </a:p>
              <a:p>
                <a:pPr marL="285750" indent="-285750" algn="just">
                  <a:spcBef>
                    <a:spcPts val="200"/>
                  </a:spcBef>
                  <a:buFont typeface="Arial" panose="020B0604020202020204" pitchFamily="34" charset="0"/>
                  <a:buChar char="•"/>
                </a:pPr>
                <a14:m>
                  <m:oMath xmlns:m="http://schemas.openxmlformats.org/officeDocument/2006/math">
                    <m:r>
                      <m:rPr>
                        <m:nor/>
                      </m:rPr>
                      <a:rPr lang="en-US" sz="1400" dirty="0" smtClean="0"/>
                      <m:t>Difference</m:t>
                    </m:r>
                    <m:r>
                      <m:rPr>
                        <m:nor/>
                      </m:rPr>
                      <a:rPr lang="en-US" sz="1400" dirty="0" smtClean="0"/>
                      <m:t> </m:t>
                    </m:r>
                    <m:r>
                      <m:rPr>
                        <m:nor/>
                      </m:rPr>
                      <a:rPr lang="en-US" sz="1400" dirty="0" smtClean="0"/>
                      <m:t>in</m:t>
                    </m:r>
                    <m:r>
                      <m:rPr>
                        <m:nor/>
                      </m:rPr>
                      <a:rPr lang="en-US" sz="1400" dirty="0" smtClean="0"/>
                      <m:t> </m:t>
                    </m:r>
                    <m:r>
                      <m:rPr>
                        <m:nor/>
                      </m:rPr>
                      <a:rPr lang="en-US" sz="1400" b="0" i="0" dirty="0" smtClean="0"/>
                      <m:t>Immunity</m:t>
                    </m:r>
                    <m:r>
                      <m:rPr>
                        <m:nor/>
                      </m:rPr>
                      <a:rPr lang="en-US" sz="1400" dirty="0" smtClean="0"/>
                      <m:t> </m:t>
                    </m:r>
                    <m:r>
                      <m:rPr>
                        <m:nor/>
                      </m:rPr>
                      <a:rPr lang="en-US" sz="1400" dirty="0" smtClean="0"/>
                      <m:t>in</m:t>
                    </m:r>
                    <m:r>
                      <m:rPr>
                        <m:nor/>
                      </m:rPr>
                      <a:rPr lang="en-US" sz="1400" dirty="0" smtClean="0"/>
                      <m:t> 20 </m:t>
                    </m:r>
                    <m:r>
                      <m:rPr>
                        <m:nor/>
                      </m:rPr>
                      <a:rPr lang="en-US" sz="1400" dirty="0" smtClean="0"/>
                      <m:t>weeks</m:t>
                    </m:r>
                    <m:r>
                      <m:rPr>
                        <m:nor/>
                      </m:rPr>
                      <a:rPr lang="en-US" sz="1400" dirty="0" smtClean="0"/>
                      <m:t> </m:t>
                    </m:r>
                    <m:r>
                      <m:rPr>
                        <m:nor/>
                      </m:rPr>
                      <a:rPr lang="en-US" sz="1400" dirty="0" smtClean="0"/>
                      <m:t>post</m:t>
                    </m:r>
                    <m:r>
                      <m:rPr>
                        <m:nor/>
                      </m:rPr>
                      <a:rPr lang="en-US" sz="1400" dirty="0" smtClean="0"/>
                      <m:t> </m:t>
                    </m:r>
                    <m:r>
                      <m:rPr>
                        <m:nor/>
                      </m:rPr>
                      <a:rPr lang="en-US" sz="1400" dirty="0" smtClean="0"/>
                      <m:t>treatment</m:t>
                    </m:r>
                    <m:r>
                      <a:rPr lang="en-US" sz="1400" i="1" smtClean="0">
                        <a:latin typeface="Cambria Math" panose="02040503050406030204" pitchFamily="18" charset="0"/>
                      </a:rPr>
                      <m:t>=</m:t>
                    </m:r>
                    <m:f>
                      <m:fPr>
                        <m:ctrlPr>
                          <a:rPr lang="en-US" sz="1400" i="1" smtClean="0">
                            <a:latin typeface="Cambria Math" panose="02040503050406030204" pitchFamily="18" charset="0"/>
                          </a:rPr>
                        </m:ctrlPr>
                      </m:fPr>
                      <m:num>
                        <m:r>
                          <a:rPr lang="en-US" sz="1400" b="0" i="1" smtClean="0">
                            <a:latin typeface="Cambria Math" panose="02040503050406030204" pitchFamily="18" charset="0"/>
                          </a:rPr>
                          <m:t>𝐶𝐷</m:t>
                        </m:r>
                        <m:r>
                          <a:rPr lang="en-US" sz="1400" b="0" i="1" smtClean="0">
                            <a:latin typeface="Cambria Math" panose="02040503050406030204" pitchFamily="18" charset="0"/>
                          </a:rPr>
                          <m:t>4(20)</m:t>
                        </m:r>
                      </m:num>
                      <m:den>
                        <m:r>
                          <a:rPr lang="en-US" sz="1400" b="0" i="1" smtClean="0">
                            <a:latin typeface="Cambria Math" panose="02040503050406030204" pitchFamily="18" charset="0"/>
                          </a:rPr>
                          <m:t>𝐶𝐷</m:t>
                        </m:r>
                        <m:r>
                          <a:rPr lang="en-US" sz="1400" b="0" i="1" smtClean="0">
                            <a:latin typeface="Cambria Math" panose="02040503050406030204" pitchFamily="18" charset="0"/>
                          </a:rPr>
                          <m:t>8(20)</m:t>
                        </m:r>
                      </m:den>
                    </m:f>
                    <m:r>
                      <a:rPr lang="en-US" sz="1400" b="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𝐶𝐷</m:t>
                        </m:r>
                        <m:r>
                          <a:rPr lang="en-US" sz="1400" i="1">
                            <a:latin typeface="Cambria Math" panose="02040503050406030204" pitchFamily="18" charset="0"/>
                          </a:rPr>
                          <m:t>4(0)</m:t>
                        </m:r>
                      </m:num>
                      <m:den>
                        <m:r>
                          <a:rPr lang="en-US" sz="1400" i="1">
                            <a:latin typeface="Cambria Math" panose="02040503050406030204" pitchFamily="18" charset="0"/>
                          </a:rPr>
                          <m:t>𝐶𝐷</m:t>
                        </m:r>
                        <m:r>
                          <a:rPr lang="en-US" sz="1400" i="1">
                            <a:latin typeface="Cambria Math" panose="02040503050406030204" pitchFamily="18" charset="0"/>
                          </a:rPr>
                          <m:t>8(0)</m:t>
                        </m:r>
                      </m:den>
                    </m:f>
                  </m:oMath>
                </a14:m>
                <a:endParaRPr lang="en-US" sz="1400" dirty="0"/>
              </a:p>
            </p:txBody>
          </p:sp>
        </mc:Choice>
        <mc:Fallback xmlns="">
          <p:sp>
            <p:nvSpPr>
              <p:cNvPr id="10" name="TextBox 9">
                <a:extLst>
                  <a:ext uri="{FF2B5EF4-FFF2-40B4-BE49-F238E27FC236}">
                    <a16:creationId xmlns:a16="http://schemas.microsoft.com/office/drawing/2014/main" id="{43E77B3A-A04E-48F9-C113-3A48EB467078}"/>
                  </a:ext>
                </a:extLst>
              </p:cNvPr>
              <p:cNvSpPr txBox="1">
                <a:spLocks noRot="1" noChangeAspect="1" noMove="1" noResize="1" noEditPoints="1" noAdjustHandles="1" noChangeArrowheads="1" noChangeShapeType="1" noTextEdit="1"/>
              </p:cNvSpPr>
              <p:nvPr/>
            </p:nvSpPr>
            <p:spPr>
              <a:xfrm>
                <a:off x="214008" y="2463356"/>
                <a:ext cx="11773712" cy="1270819"/>
              </a:xfrm>
              <a:prstGeom prst="rect">
                <a:avLst/>
              </a:prstGeom>
              <a:blipFill>
                <a:blip r:embed="rId3"/>
                <a:stretch>
                  <a:fillRect l="-103" t="-474"/>
                </a:stretch>
              </a:blipFill>
              <a:ln>
                <a:solidFill>
                  <a:schemeClr val="bg1">
                    <a:lumMod val="75000"/>
                  </a:schemeClr>
                </a:solidFill>
              </a:ln>
            </p:spPr>
            <p:txBody>
              <a:bodyPr/>
              <a:lstStyle/>
              <a:p>
                <a:r>
                  <a:rPr lang="en-US">
                    <a:noFill/>
                  </a:rPr>
                  <a:t> </a:t>
                </a:r>
              </a:p>
            </p:txBody>
          </p:sp>
        </mc:Fallback>
      </mc:AlternateContent>
      <p:pic>
        <p:nvPicPr>
          <p:cNvPr id="20" name="Picture 19">
            <a:extLst>
              <a:ext uri="{FF2B5EF4-FFF2-40B4-BE49-F238E27FC236}">
                <a16:creationId xmlns:a16="http://schemas.microsoft.com/office/drawing/2014/main" id="{9DA5B2DF-D0BC-BC5F-2CB2-7E7AC905065B}"/>
              </a:ext>
            </a:extLst>
          </p:cNvPr>
          <p:cNvPicPr>
            <a:picLocks noChangeAspect="1"/>
          </p:cNvPicPr>
          <p:nvPr/>
        </p:nvPicPr>
        <p:blipFill>
          <a:blip r:embed="rId4"/>
          <a:stretch>
            <a:fillRect/>
          </a:stretch>
        </p:blipFill>
        <p:spPr>
          <a:xfrm>
            <a:off x="214008" y="4336925"/>
            <a:ext cx="5501640" cy="1112520"/>
          </a:xfrm>
          <a:prstGeom prst="rect">
            <a:avLst/>
          </a:prstGeom>
        </p:spPr>
      </p:pic>
      <p:pic>
        <p:nvPicPr>
          <p:cNvPr id="22" name="Picture 21">
            <a:extLst>
              <a:ext uri="{FF2B5EF4-FFF2-40B4-BE49-F238E27FC236}">
                <a16:creationId xmlns:a16="http://schemas.microsoft.com/office/drawing/2014/main" id="{F92669AA-5A6A-74D8-DB0B-3CD5AD16B0C6}"/>
              </a:ext>
            </a:extLst>
          </p:cNvPr>
          <p:cNvPicPr>
            <a:picLocks noChangeAspect="1"/>
          </p:cNvPicPr>
          <p:nvPr/>
        </p:nvPicPr>
        <p:blipFill>
          <a:blip r:embed="rId5"/>
          <a:stretch>
            <a:fillRect/>
          </a:stretch>
        </p:blipFill>
        <p:spPr>
          <a:xfrm>
            <a:off x="6486080" y="4336925"/>
            <a:ext cx="5501640" cy="1112520"/>
          </a:xfrm>
          <a:prstGeom prst="rect">
            <a:avLst/>
          </a:prstGeom>
        </p:spPr>
      </p:pic>
      <p:sp>
        <p:nvSpPr>
          <p:cNvPr id="23" name="TextBox 22">
            <a:extLst>
              <a:ext uri="{FF2B5EF4-FFF2-40B4-BE49-F238E27FC236}">
                <a16:creationId xmlns:a16="http://schemas.microsoft.com/office/drawing/2014/main" id="{538BEE0B-FFEB-408C-3516-2755902D40A9}"/>
              </a:ext>
            </a:extLst>
          </p:cNvPr>
          <p:cNvSpPr txBox="1"/>
          <p:nvPr/>
        </p:nvSpPr>
        <p:spPr>
          <a:xfrm>
            <a:off x="214008" y="4001615"/>
            <a:ext cx="5491913" cy="276999"/>
          </a:xfrm>
          <a:prstGeom prst="rect">
            <a:avLst/>
          </a:prstGeom>
          <a:noFill/>
        </p:spPr>
        <p:txBody>
          <a:bodyPr wrap="square" rtlCol="0">
            <a:spAutoFit/>
          </a:bodyPr>
          <a:lstStyle/>
          <a:p>
            <a:pPr algn="ctr"/>
            <a:r>
              <a:rPr lang="en-US" sz="1200" b="1" dirty="0"/>
              <a:t>Summary - Difference in CD4 count in 20 weeks post treatment</a:t>
            </a:r>
          </a:p>
        </p:txBody>
      </p:sp>
      <p:sp>
        <p:nvSpPr>
          <p:cNvPr id="24" name="TextBox 23">
            <a:extLst>
              <a:ext uri="{FF2B5EF4-FFF2-40B4-BE49-F238E27FC236}">
                <a16:creationId xmlns:a16="http://schemas.microsoft.com/office/drawing/2014/main" id="{35FDA6F4-B81D-8B55-C2A8-D067DE274623}"/>
              </a:ext>
            </a:extLst>
          </p:cNvPr>
          <p:cNvSpPr txBox="1"/>
          <p:nvPr/>
        </p:nvSpPr>
        <p:spPr>
          <a:xfrm>
            <a:off x="6619724" y="4001615"/>
            <a:ext cx="5491913" cy="276999"/>
          </a:xfrm>
          <a:prstGeom prst="rect">
            <a:avLst/>
          </a:prstGeom>
          <a:noFill/>
        </p:spPr>
        <p:txBody>
          <a:bodyPr wrap="square" rtlCol="0">
            <a:spAutoFit/>
          </a:bodyPr>
          <a:lstStyle/>
          <a:p>
            <a:pPr algn="ctr"/>
            <a:r>
              <a:rPr lang="en-US" sz="1200" b="1" dirty="0"/>
              <a:t>Summary - Difference in Immunity in 20 weeks post treatment</a:t>
            </a:r>
          </a:p>
        </p:txBody>
      </p:sp>
    </p:spTree>
    <p:extLst>
      <p:ext uri="{BB962C8B-B14F-4D97-AF65-F5344CB8AC3E}">
        <p14:creationId xmlns:p14="http://schemas.microsoft.com/office/powerpoint/2010/main" val="115499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DDC5-2AA2-D6AF-D5DA-C6C41C43F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95BE5-296D-4E06-9113-50549B1A8DE1}"/>
              </a:ext>
            </a:extLst>
          </p:cNvPr>
          <p:cNvSpPr>
            <a:spLocks noGrp="1"/>
          </p:cNvSpPr>
          <p:nvPr>
            <p:ph type="title"/>
          </p:nvPr>
        </p:nvSpPr>
        <p:spPr>
          <a:xfrm>
            <a:off x="194552" y="38912"/>
            <a:ext cx="11997447" cy="578458"/>
          </a:xfrm>
        </p:spPr>
        <p:txBody>
          <a:bodyPr>
            <a:normAutofit/>
          </a:bodyPr>
          <a:lstStyle/>
          <a:p>
            <a:r>
              <a:rPr lang="en-US" sz="3200" b="1" dirty="0"/>
              <a:t>Process of the Study</a:t>
            </a:r>
          </a:p>
        </p:txBody>
      </p:sp>
      <p:graphicFrame>
        <p:nvGraphicFramePr>
          <p:cNvPr id="4" name="Diagram 3">
            <a:extLst>
              <a:ext uri="{FF2B5EF4-FFF2-40B4-BE49-F238E27FC236}">
                <a16:creationId xmlns:a16="http://schemas.microsoft.com/office/drawing/2014/main" id="{566CF6E1-47BE-4E4F-602D-78B4B5D5A731}"/>
              </a:ext>
            </a:extLst>
          </p:cNvPr>
          <p:cNvGraphicFramePr/>
          <p:nvPr>
            <p:extLst>
              <p:ext uri="{D42A27DB-BD31-4B8C-83A1-F6EECF244321}">
                <p14:modId xmlns:p14="http://schemas.microsoft.com/office/powerpoint/2010/main" val="2962580967"/>
              </p:ext>
            </p:extLst>
          </p:nvPr>
        </p:nvGraphicFramePr>
        <p:xfrm>
          <a:off x="-147590" y="983725"/>
          <a:ext cx="1209367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D2F0D59D-586E-E5D1-C8D8-EFF99BE6C0C7}"/>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7</a:t>
            </a:fld>
            <a:endParaRPr lang="en-US" dirty="0"/>
          </a:p>
        </p:txBody>
      </p:sp>
    </p:spTree>
    <p:extLst>
      <p:ext uri="{BB962C8B-B14F-4D97-AF65-F5344CB8AC3E}">
        <p14:creationId xmlns:p14="http://schemas.microsoft.com/office/powerpoint/2010/main" val="157469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1D60-456E-4877-7AB5-4594B5414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6B641-44B2-FCEF-EDEB-CD2A8711EE0D}"/>
              </a:ext>
            </a:extLst>
          </p:cNvPr>
          <p:cNvSpPr>
            <a:spLocks noGrp="1"/>
          </p:cNvSpPr>
          <p:nvPr>
            <p:ph type="title"/>
          </p:nvPr>
        </p:nvSpPr>
        <p:spPr>
          <a:xfrm>
            <a:off x="194552" y="38912"/>
            <a:ext cx="11997447" cy="578458"/>
          </a:xfrm>
        </p:spPr>
        <p:txBody>
          <a:bodyPr>
            <a:normAutofit fontScale="90000"/>
          </a:bodyPr>
          <a:lstStyle/>
          <a:p>
            <a:r>
              <a:rPr lang="en-US" sz="3200" b="1" dirty="0"/>
              <a:t>Treatment Efficacy Analysis and Findings -  Based on survival outcome (1/2)</a:t>
            </a:r>
          </a:p>
        </p:txBody>
      </p:sp>
      <p:sp>
        <p:nvSpPr>
          <p:cNvPr id="6" name="TextBox 5">
            <a:extLst>
              <a:ext uri="{FF2B5EF4-FFF2-40B4-BE49-F238E27FC236}">
                <a16:creationId xmlns:a16="http://schemas.microsoft.com/office/drawing/2014/main" id="{40F214B2-8B4F-5FBB-B9D7-9483AE3A604F}"/>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Test Setup</a:t>
            </a:r>
          </a:p>
        </p:txBody>
      </p:sp>
      <p:sp>
        <p:nvSpPr>
          <p:cNvPr id="7" name="TextBox 6">
            <a:extLst>
              <a:ext uri="{FF2B5EF4-FFF2-40B4-BE49-F238E27FC236}">
                <a16:creationId xmlns:a16="http://schemas.microsoft.com/office/drawing/2014/main" id="{49A5F650-85C1-09C7-FD80-BB4A940A82E9}"/>
              </a:ext>
            </a:extLst>
          </p:cNvPr>
          <p:cNvSpPr txBox="1"/>
          <p:nvPr/>
        </p:nvSpPr>
        <p:spPr>
          <a:xfrm>
            <a:off x="214008" y="1050371"/>
            <a:ext cx="11773712" cy="1028069"/>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b="1" dirty="0"/>
              <a:t>Variables under consideration</a:t>
            </a:r>
            <a:r>
              <a:rPr lang="en-US" sz="1400" dirty="0"/>
              <a:t>: Treatment Groups (</a:t>
            </a:r>
            <a:r>
              <a:rPr lang="en-US" sz="1400" dirty="0" err="1"/>
              <a:t>trt</a:t>
            </a:r>
            <a:r>
              <a:rPr lang="en-US" sz="1400" dirty="0"/>
              <a:t>) vs survival outcome (</a:t>
            </a:r>
            <a:r>
              <a:rPr lang="en-US" sz="1400" dirty="0" err="1"/>
              <a:t>cid</a:t>
            </a:r>
            <a:r>
              <a:rPr lang="en-US" sz="1400" dirty="0"/>
              <a:t>)</a:t>
            </a:r>
          </a:p>
          <a:p>
            <a:pPr marL="285750" indent="-285750" algn="just">
              <a:spcBef>
                <a:spcPts val="200"/>
              </a:spcBef>
              <a:buFont typeface="Arial" panose="020B0604020202020204" pitchFamily="34" charset="0"/>
              <a:buChar char="•"/>
            </a:pPr>
            <a:r>
              <a:rPr lang="en-US" sz="1400" b="1" dirty="0"/>
              <a:t>Variable types</a:t>
            </a:r>
            <a:r>
              <a:rPr lang="en-US" sz="1400" dirty="0"/>
              <a:t>: Categorical vs Categorical</a:t>
            </a:r>
          </a:p>
          <a:p>
            <a:pPr marL="285750" indent="-285750" algn="just">
              <a:spcBef>
                <a:spcPts val="200"/>
              </a:spcBef>
              <a:buFont typeface="Arial" panose="020B0604020202020204" pitchFamily="34" charset="0"/>
              <a:buChar char="•"/>
            </a:pPr>
            <a:r>
              <a:rPr lang="en-US" sz="1400" b="1" dirty="0"/>
              <a:t>Statistical test</a:t>
            </a:r>
            <a:r>
              <a:rPr lang="en-US" sz="1400" dirty="0"/>
              <a:t>: Chi-squared test (Testing for independence in two-way tables)</a:t>
            </a:r>
          </a:p>
          <a:p>
            <a:pPr marL="285750" indent="-285750" algn="just">
              <a:spcBef>
                <a:spcPts val="200"/>
              </a:spcBef>
              <a:buFont typeface="Arial" panose="020B0604020202020204" pitchFamily="34" charset="0"/>
              <a:buChar char="•"/>
            </a:pPr>
            <a:r>
              <a:rPr lang="en-US" sz="1400" b="1" dirty="0"/>
              <a:t>Confidence Level: </a:t>
            </a:r>
            <a:r>
              <a:rPr lang="en-US" sz="1400" dirty="0"/>
              <a:t>95% (𝛼=0.05)</a:t>
            </a:r>
          </a:p>
        </p:txBody>
      </p:sp>
      <p:sp>
        <p:nvSpPr>
          <p:cNvPr id="8" name="TextBox 7">
            <a:extLst>
              <a:ext uri="{FF2B5EF4-FFF2-40B4-BE49-F238E27FC236}">
                <a16:creationId xmlns:a16="http://schemas.microsoft.com/office/drawing/2014/main" id="{809CEADC-8DAF-BE24-7DEB-57DDBD870A60}"/>
              </a:ext>
            </a:extLst>
          </p:cNvPr>
          <p:cNvSpPr txBox="1"/>
          <p:nvPr/>
        </p:nvSpPr>
        <p:spPr>
          <a:xfrm>
            <a:off x="214008" y="2317700"/>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Data for Test (Two Way Table)</a:t>
            </a:r>
          </a:p>
        </p:txBody>
      </p:sp>
      <p:pic>
        <p:nvPicPr>
          <p:cNvPr id="15" name="Picture 14">
            <a:extLst>
              <a:ext uri="{FF2B5EF4-FFF2-40B4-BE49-F238E27FC236}">
                <a16:creationId xmlns:a16="http://schemas.microsoft.com/office/drawing/2014/main" id="{1EDCC6D7-E398-A0F8-C74C-18098EE1D6AD}"/>
              </a:ext>
            </a:extLst>
          </p:cNvPr>
          <p:cNvPicPr>
            <a:picLocks noChangeAspect="1"/>
          </p:cNvPicPr>
          <p:nvPr/>
        </p:nvPicPr>
        <p:blipFill>
          <a:blip r:embed="rId2"/>
          <a:stretch>
            <a:fillRect/>
          </a:stretch>
        </p:blipFill>
        <p:spPr>
          <a:xfrm>
            <a:off x="214007" y="2679095"/>
            <a:ext cx="5791200" cy="1424940"/>
          </a:xfrm>
          <a:prstGeom prst="rect">
            <a:avLst/>
          </a:prstGeom>
        </p:spPr>
      </p:pic>
      <p:sp>
        <p:nvSpPr>
          <p:cNvPr id="16" name="TextBox 15">
            <a:extLst>
              <a:ext uri="{FF2B5EF4-FFF2-40B4-BE49-F238E27FC236}">
                <a16:creationId xmlns:a16="http://schemas.microsoft.com/office/drawing/2014/main" id="{5D9B5262-0749-F085-3646-9A660FEA8352}"/>
              </a:ext>
            </a:extLst>
          </p:cNvPr>
          <p:cNvSpPr txBox="1"/>
          <p:nvPr/>
        </p:nvSpPr>
        <p:spPr>
          <a:xfrm>
            <a:off x="6186793" y="2317700"/>
            <a:ext cx="3307403"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Two Way Table with Expected Count</a:t>
            </a:r>
          </a:p>
        </p:txBody>
      </p:sp>
      <p:pic>
        <p:nvPicPr>
          <p:cNvPr id="19" name="Picture 18">
            <a:extLst>
              <a:ext uri="{FF2B5EF4-FFF2-40B4-BE49-F238E27FC236}">
                <a16:creationId xmlns:a16="http://schemas.microsoft.com/office/drawing/2014/main" id="{FCD2D2F7-5630-FE02-4266-1F5B693A606B}"/>
              </a:ext>
            </a:extLst>
          </p:cNvPr>
          <p:cNvPicPr>
            <a:picLocks noChangeAspect="1"/>
          </p:cNvPicPr>
          <p:nvPr/>
        </p:nvPicPr>
        <p:blipFill>
          <a:blip r:embed="rId3"/>
          <a:stretch>
            <a:fillRect/>
          </a:stretch>
        </p:blipFill>
        <p:spPr>
          <a:xfrm>
            <a:off x="6186792" y="2679095"/>
            <a:ext cx="5791200" cy="1424940"/>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9ADA137-4030-4289-BF5B-BCE78D256CE9}"/>
                  </a:ext>
                </a:extLst>
              </p:cNvPr>
              <p:cNvSpPr txBox="1"/>
              <p:nvPr/>
            </p:nvSpPr>
            <p:spPr>
              <a:xfrm>
                <a:off x="6908132" y="4136604"/>
                <a:ext cx="4017638" cy="350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𝑤h𝑒𝑟𝑒</m:t>
                      </m:r>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𝐸𝑥𝑝𝑒𝑐𝑡𝑒𝑑</m:t>
                          </m:r>
                          <m:r>
                            <a:rPr lang="en-US" sz="1200" b="0" i="1" smtClean="0">
                              <a:latin typeface="Cambria Math" panose="02040503050406030204" pitchFamily="18" charset="0"/>
                            </a:rPr>
                            <m:t> </m:t>
                          </m:r>
                          <m:r>
                            <a:rPr lang="en-US" sz="1200" b="0" i="1" smtClean="0">
                              <a:latin typeface="Cambria Math" panose="02040503050406030204" pitchFamily="18" charset="0"/>
                            </a:rPr>
                            <m:t>𝐶𝑜𝑢𝑛𝑡</m:t>
                          </m:r>
                        </m:e>
                        <m:sub>
                          <m:r>
                            <a:rPr lang="en-US" sz="1200" b="0" i="1" smtClean="0">
                              <a:latin typeface="Cambria Math" panose="02040503050406030204" pitchFamily="18" charset="0"/>
                            </a:rPr>
                            <m:t> </m:t>
                          </m:r>
                          <m:r>
                            <a:rPr lang="en-US" sz="1200" b="0" i="1" smtClean="0">
                              <a:latin typeface="Cambria Math" panose="02040503050406030204" pitchFamily="18" charset="0"/>
                            </a:rPr>
                            <m:t>𝑟𝑜𝑤</m:t>
                          </m:r>
                          <m:r>
                            <a:rPr lang="en-US" sz="1200" b="0" i="1" smtClean="0">
                              <a:latin typeface="Cambria Math" panose="02040503050406030204" pitchFamily="18" charset="0"/>
                            </a:rPr>
                            <m:t> </m:t>
                          </m:r>
                          <m:r>
                            <a:rPr lang="en-US" sz="1200" b="0" i="1" smtClean="0">
                              <a:latin typeface="Cambria Math" panose="02040503050406030204" pitchFamily="18" charset="0"/>
                            </a:rPr>
                            <m:t>𝑖</m:t>
                          </m:r>
                          <m:r>
                            <a:rPr lang="en-US" sz="1200" b="0" i="1" smtClean="0">
                              <a:latin typeface="Cambria Math" panose="02040503050406030204" pitchFamily="18" charset="0"/>
                            </a:rPr>
                            <m:t>, </m:t>
                          </m:r>
                          <m:r>
                            <a:rPr lang="en-US" sz="1200" b="0" i="1" smtClean="0">
                              <a:latin typeface="Cambria Math" panose="02040503050406030204" pitchFamily="18" charset="0"/>
                            </a:rPr>
                            <m:t>𝑐𝑜𝑙</m:t>
                          </m:r>
                          <m:r>
                            <a:rPr lang="en-US" sz="1200" b="0" i="1" smtClean="0">
                              <a:latin typeface="Cambria Math" panose="02040503050406030204" pitchFamily="18" charset="0"/>
                            </a:rPr>
                            <m:t> </m:t>
                          </m:r>
                          <m:r>
                            <a:rPr lang="en-US" sz="1200" b="0" i="1" smtClean="0">
                              <a:latin typeface="Cambria Math" panose="02040503050406030204" pitchFamily="18" charset="0"/>
                            </a:rPr>
                            <m:t>𝑗</m:t>
                          </m:r>
                        </m:sub>
                      </m:sSub>
                      <m:r>
                        <a:rPr lang="en-US" sz="120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𝑟𝑜𝑤</m:t>
                          </m:r>
                          <m:r>
                            <a:rPr lang="en-US" sz="1200" b="0" i="1" smtClean="0">
                              <a:latin typeface="Cambria Math" panose="02040503050406030204" pitchFamily="18" charset="0"/>
                            </a:rPr>
                            <m:t> </m:t>
                          </m:r>
                          <m:r>
                            <a:rPr lang="en-US" sz="1200" b="0" i="1" smtClean="0">
                              <a:latin typeface="Cambria Math" panose="02040503050406030204" pitchFamily="18" charset="0"/>
                            </a:rPr>
                            <m:t>𝑖</m:t>
                          </m:r>
                          <m:r>
                            <a:rPr lang="en-US" sz="1200" b="0" i="1" smtClean="0">
                              <a:latin typeface="Cambria Math" panose="02040503050406030204" pitchFamily="18" charset="0"/>
                            </a:rPr>
                            <m:t> </m:t>
                          </m:r>
                          <m:r>
                            <a:rPr lang="en-US" sz="1200" b="0" i="1" smtClean="0">
                              <a:latin typeface="Cambria Math" panose="02040503050406030204" pitchFamily="18" charset="0"/>
                            </a:rPr>
                            <m:t>𝑡𝑜𝑡𝑎𝑙</m:t>
                          </m:r>
                          <m:r>
                            <a:rPr lang="en-US" sz="1200" b="0" i="1" smtClean="0">
                              <a:latin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𝑐𝑜𝑙</m:t>
                          </m:r>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𝑗</m:t>
                          </m:r>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ea typeface="Cambria Math" panose="02040503050406030204" pitchFamily="18" charset="0"/>
                            </a:rPr>
                            <m:t>𝑡𝑜𝑡𝑎𝑙</m:t>
                          </m:r>
                        </m:num>
                        <m:den>
                          <m:r>
                            <a:rPr lang="en-US" sz="1200" b="0" i="1" smtClean="0">
                              <a:latin typeface="Cambria Math" panose="02040503050406030204" pitchFamily="18" charset="0"/>
                            </a:rPr>
                            <m:t>𝑡𝑎𝑏𝑙𝑒</m:t>
                          </m:r>
                          <m:r>
                            <a:rPr lang="en-US" sz="1200" b="0" i="1" smtClean="0">
                              <a:latin typeface="Cambria Math" panose="02040503050406030204" pitchFamily="18" charset="0"/>
                            </a:rPr>
                            <m:t> </m:t>
                          </m:r>
                          <m:r>
                            <a:rPr lang="en-US" sz="1200" b="0" i="1" smtClean="0">
                              <a:latin typeface="Cambria Math" panose="02040503050406030204" pitchFamily="18" charset="0"/>
                            </a:rPr>
                            <m:t>𝑡𝑜𝑡𝑎𝑙</m:t>
                          </m:r>
                        </m:den>
                      </m:f>
                    </m:oMath>
                  </m:oMathPara>
                </a14:m>
                <a:endParaRPr lang="en-US" sz="1200" dirty="0"/>
              </a:p>
            </p:txBody>
          </p:sp>
        </mc:Choice>
        <mc:Fallback xmlns="">
          <p:sp>
            <p:nvSpPr>
              <p:cNvPr id="20" name="TextBox 19">
                <a:extLst>
                  <a:ext uri="{FF2B5EF4-FFF2-40B4-BE49-F238E27FC236}">
                    <a16:creationId xmlns:a16="http://schemas.microsoft.com/office/drawing/2014/main" id="{E9ADA137-4030-4289-BF5B-BCE78D256CE9}"/>
                  </a:ext>
                </a:extLst>
              </p:cNvPr>
              <p:cNvSpPr txBox="1">
                <a:spLocks noRot="1" noChangeAspect="1" noMove="1" noResize="1" noEditPoints="1" noAdjustHandles="1" noChangeArrowheads="1" noChangeShapeType="1" noTextEdit="1"/>
              </p:cNvSpPr>
              <p:nvPr/>
            </p:nvSpPr>
            <p:spPr>
              <a:xfrm>
                <a:off x="6908132" y="4136604"/>
                <a:ext cx="4017638" cy="350673"/>
              </a:xfrm>
              <a:prstGeom prst="rect">
                <a:avLst/>
              </a:prstGeom>
              <a:blipFill>
                <a:blip r:embed="rId4"/>
                <a:stretch>
                  <a:fillRect l="-455" t="-3509" r="-607" b="-15789"/>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306E4CE7-AF9B-F468-41D9-B1B4D04D4D1D}"/>
              </a:ext>
            </a:extLst>
          </p:cNvPr>
          <p:cNvSpPr txBox="1"/>
          <p:nvPr/>
        </p:nvSpPr>
        <p:spPr>
          <a:xfrm>
            <a:off x="191308" y="4485322"/>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Hypothesis</a:t>
            </a:r>
          </a:p>
        </p:txBody>
      </p:sp>
      <p:sp>
        <p:nvSpPr>
          <p:cNvPr id="22" name="TextBox 21">
            <a:extLst>
              <a:ext uri="{FF2B5EF4-FFF2-40B4-BE49-F238E27FC236}">
                <a16:creationId xmlns:a16="http://schemas.microsoft.com/office/drawing/2014/main" id="{0ED32237-92E1-BB64-3573-D6EAFB9EE222}"/>
              </a:ext>
            </a:extLst>
          </p:cNvPr>
          <p:cNvSpPr txBox="1"/>
          <p:nvPr/>
        </p:nvSpPr>
        <p:spPr>
          <a:xfrm>
            <a:off x="191308" y="4836210"/>
            <a:ext cx="11773712" cy="1480135"/>
          </a:xfrm>
          <a:prstGeom prst="rect">
            <a:avLst/>
          </a:prstGeom>
          <a:noFill/>
          <a:ln>
            <a:solidFill>
              <a:schemeClr val="bg1">
                <a:lumMod val="75000"/>
              </a:schemeClr>
            </a:solidFill>
          </a:ln>
        </p:spPr>
        <p:txBody>
          <a:bodyPr wrap="square" rtlCol="0">
            <a:noAutofit/>
          </a:bodyPr>
          <a:lstStyle/>
          <a:p>
            <a:pPr marL="285750" indent="-285750" algn="just">
              <a:lnSpc>
                <a:spcPct val="150000"/>
              </a:lnSpc>
              <a:buFont typeface="Arial" panose="020B0604020202020204" pitchFamily="34" charset="0"/>
              <a:buChar char="•"/>
            </a:pPr>
            <a:r>
              <a:rPr lang="en-US" sz="1400" dirty="0"/>
              <a:t>Null Hypothesis</a:t>
            </a:r>
          </a:p>
          <a:p>
            <a:pPr lvl="1" algn="just">
              <a:lnSpc>
                <a:spcPct val="150000"/>
              </a:lnSpc>
            </a:pPr>
            <a:r>
              <a:rPr lang="en-US" sz="1400" b="1" dirty="0"/>
              <a:t>H</a:t>
            </a:r>
            <a:r>
              <a:rPr lang="en-US" sz="1400" b="1" baseline="-25000" dirty="0"/>
              <a:t>0</a:t>
            </a:r>
            <a:r>
              <a:rPr lang="en-US" sz="1400" b="1" dirty="0"/>
              <a:t>: There is no difference in the efficacy of the three treatments. The survival outcome is independent of the treatment groups.</a:t>
            </a:r>
          </a:p>
          <a:p>
            <a:pPr marL="285750" indent="-285750" algn="just">
              <a:lnSpc>
                <a:spcPct val="150000"/>
              </a:lnSpc>
              <a:buFont typeface="Arial" panose="020B0604020202020204" pitchFamily="34" charset="0"/>
              <a:buChar char="•"/>
            </a:pPr>
            <a:r>
              <a:rPr lang="en-US" sz="1400" dirty="0"/>
              <a:t>Alternative Hypothesis</a:t>
            </a:r>
          </a:p>
          <a:p>
            <a:pPr lvl="1" algn="just">
              <a:lnSpc>
                <a:spcPct val="150000"/>
              </a:lnSpc>
            </a:pPr>
            <a:r>
              <a:rPr lang="en-US" sz="1400" b="1" dirty="0"/>
              <a:t>H</a:t>
            </a:r>
            <a:r>
              <a:rPr lang="en-US" sz="1400" b="1" baseline="-25000" dirty="0"/>
              <a:t>A</a:t>
            </a:r>
            <a:r>
              <a:rPr lang="en-US" sz="1400" b="1" dirty="0"/>
              <a:t>: There is some difference in efficacy between the three treatments. The type of treatment given has some effect on the survival outcome</a:t>
            </a:r>
          </a:p>
        </p:txBody>
      </p:sp>
      <p:sp>
        <p:nvSpPr>
          <p:cNvPr id="23" name="Slide Number Placeholder 3">
            <a:extLst>
              <a:ext uri="{FF2B5EF4-FFF2-40B4-BE49-F238E27FC236}">
                <a16:creationId xmlns:a16="http://schemas.microsoft.com/office/drawing/2014/main" id="{75AE1006-04C8-0E7A-1D25-3D91F7CD9BAA}"/>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8</a:t>
            </a:fld>
            <a:endParaRPr lang="en-US" dirty="0"/>
          </a:p>
        </p:txBody>
      </p:sp>
    </p:spTree>
    <p:extLst>
      <p:ext uri="{BB962C8B-B14F-4D97-AF65-F5344CB8AC3E}">
        <p14:creationId xmlns:p14="http://schemas.microsoft.com/office/powerpoint/2010/main" val="1035965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AB27-0696-0740-E865-A18218010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55AF-00DA-EACE-410D-8DE0B2A9C58E}"/>
              </a:ext>
            </a:extLst>
          </p:cNvPr>
          <p:cNvSpPr>
            <a:spLocks noGrp="1"/>
          </p:cNvSpPr>
          <p:nvPr>
            <p:ph type="title"/>
          </p:nvPr>
        </p:nvSpPr>
        <p:spPr>
          <a:xfrm>
            <a:off x="194552" y="38912"/>
            <a:ext cx="11997447" cy="578458"/>
          </a:xfrm>
        </p:spPr>
        <p:txBody>
          <a:bodyPr>
            <a:normAutofit fontScale="90000"/>
          </a:bodyPr>
          <a:lstStyle/>
          <a:p>
            <a:r>
              <a:rPr lang="en-US" sz="3200" b="1" dirty="0"/>
              <a:t>Treatment Efficacy Analysis and Findings -  Based on survival outcome (2/2)</a:t>
            </a:r>
          </a:p>
        </p:txBody>
      </p:sp>
      <p:sp>
        <p:nvSpPr>
          <p:cNvPr id="6" name="TextBox 5">
            <a:extLst>
              <a:ext uri="{FF2B5EF4-FFF2-40B4-BE49-F238E27FC236}">
                <a16:creationId xmlns:a16="http://schemas.microsoft.com/office/drawing/2014/main" id="{5D03C7CA-41DD-E51D-D057-B4746DEB079D}"/>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Conditions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DBCFA17-408F-3A79-6713-0E3203124BB6}"/>
                  </a:ext>
                </a:extLst>
              </p:cNvPr>
              <p:cNvSpPr txBox="1"/>
              <p:nvPr/>
            </p:nvSpPr>
            <p:spPr>
              <a:xfrm>
                <a:off x="214008" y="1050372"/>
                <a:ext cx="11773712" cy="2120846"/>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u="sng" dirty="0"/>
                  <a:t>The observations should be independent</a:t>
                </a:r>
              </a:p>
              <a:p>
                <a:pPr lvl="1" algn="just">
                  <a:spcBef>
                    <a:spcPts val="200"/>
                  </a:spcBef>
                </a:pPr>
                <a:r>
                  <a:rPr lang="en-US" sz="1400" dirty="0"/>
                  <a:t>The data is from a double blinded controlled experiment. The patients inter and intra treatment groups are independent of each other.</a:t>
                </a:r>
              </a:p>
              <a:p>
                <a:pPr marL="285750" indent="-285750" algn="just">
                  <a:spcBef>
                    <a:spcPts val="200"/>
                  </a:spcBef>
                  <a:buFont typeface="Arial" panose="020B0604020202020204" pitchFamily="34" charset="0"/>
                  <a:buChar char="•"/>
                </a:pPr>
                <a:r>
                  <a:rPr lang="en-US" sz="1400" u="sng" dirty="0"/>
                  <a:t>Expected counts for each cell should be at least 5</a:t>
                </a:r>
              </a:p>
              <a:p>
                <a:pPr lvl="1" algn="just">
                  <a:spcBef>
                    <a:spcPts val="200"/>
                  </a:spcBef>
                </a:pPr>
                <a:r>
                  <a:rPr lang="en-US" sz="1400" dirty="0"/>
                  <a:t>The expected values are greater than 5 as seen in the previous slide</a:t>
                </a:r>
              </a:p>
              <a:p>
                <a:pPr marL="285750" indent="-285750" algn="just">
                  <a:spcBef>
                    <a:spcPts val="200"/>
                  </a:spcBef>
                  <a:buFont typeface="Arial" panose="020B0604020202020204" pitchFamily="34" charset="0"/>
                  <a:buChar char="•"/>
                </a:pPr>
                <a:r>
                  <a:rPr lang="en-US" sz="1400" u="sng" dirty="0"/>
                  <a:t>Degrees of freedom should be at least 2</a:t>
                </a:r>
              </a:p>
              <a:p>
                <a:pPr lvl="1" algn="just">
                  <a:spcBef>
                    <a:spcPts val="200"/>
                  </a:spcBef>
                </a:pPr>
                <a14:m>
                  <m:oMath xmlns:m="http://schemas.openxmlformats.org/officeDocument/2006/math">
                    <m:r>
                      <a:rPr lang="en-US" sz="1400" b="0" i="1" smtClean="0">
                        <a:latin typeface="Cambria Math" panose="02040503050406030204" pitchFamily="18" charset="0"/>
                      </a:rPr>
                      <m:t>𝑑𝑓</m:t>
                    </m:r>
                    <m:r>
                      <a:rPr lang="en-US" sz="140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𝑅</m:t>
                        </m:r>
                        <m:r>
                          <a:rPr lang="en-US" sz="1400" b="0" i="1" smtClean="0">
                            <a:latin typeface="Cambria Math" panose="02040503050406030204" pitchFamily="18" charset="0"/>
                          </a:rPr>
                          <m:t>−1</m:t>
                        </m:r>
                      </m:e>
                    </m:d>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𝐶</m:t>
                    </m:r>
                    <m:r>
                      <a:rPr lang="en-US" sz="1400" b="0" i="1" smtClean="0">
                        <a:latin typeface="Cambria Math" panose="02040503050406030204" pitchFamily="18" charset="0"/>
                        <a:ea typeface="Cambria Math" panose="02040503050406030204" pitchFamily="18" charset="0"/>
                      </a:rPr>
                      <m:t> −1)</m:t>
                    </m:r>
                  </m:oMath>
                </a14:m>
                <a:r>
                  <a:rPr lang="en-US" sz="1400" dirty="0"/>
                  <a:t>, where R is number of rows and C is number of columns.</a:t>
                </a:r>
              </a:p>
              <a:p>
                <a:pPr lvl="1" algn="just">
                  <a:spcBef>
                    <a:spcPts val="200"/>
                  </a:spcBef>
                </a:pPr>
                <a14:m>
                  <m:oMath xmlns:m="http://schemas.openxmlformats.org/officeDocument/2006/math">
                    <m:r>
                      <a:rPr lang="en-US" sz="1400" b="1" i="1" smtClean="0">
                        <a:latin typeface="Cambria Math" panose="02040503050406030204" pitchFamily="18" charset="0"/>
                      </a:rPr>
                      <m:t>𝒅𝒇</m:t>
                    </m:r>
                    <m:r>
                      <a:rPr lang="en-US" sz="1400" b="1" i="1" smtClean="0">
                        <a:latin typeface="Cambria Math" panose="02040503050406030204" pitchFamily="18" charset="0"/>
                      </a:rPr>
                      <m:t>=</m:t>
                    </m:r>
                    <m:d>
                      <m:dPr>
                        <m:ctrlPr>
                          <a:rPr lang="en-US" sz="1400" b="1" i="1" smtClean="0">
                            <a:latin typeface="Cambria Math" panose="02040503050406030204" pitchFamily="18" charset="0"/>
                          </a:rPr>
                        </m:ctrlPr>
                      </m:dPr>
                      <m:e>
                        <m:r>
                          <a:rPr lang="en-US" sz="1400" b="1" i="1" smtClean="0">
                            <a:latin typeface="Cambria Math" panose="02040503050406030204" pitchFamily="18" charset="0"/>
                          </a:rPr>
                          <m:t>𝟐</m:t>
                        </m:r>
                        <m:r>
                          <a:rPr lang="en-US" sz="1400" b="1" i="1" smtClean="0">
                            <a:latin typeface="Cambria Math" panose="02040503050406030204" pitchFamily="18" charset="0"/>
                          </a:rPr>
                          <m:t>−</m:t>
                        </m:r>
                        <m:r>
                          <a:rPr lang="en-US" sz="1400" b="1" i="1" smtClean="0">
                            <a:latin typeface="Cambria Math" panose="02040503050406030204" pitchFamily="18" charset="0"/>
                          </a:rPr>
                          <m:t>𝟏</m:t>
                        </m:r>
                      </m:e>
                    </m:d>
                    <m:r>
                      <a:rPr lang="en-US" sz="1400" b="1" i="1" smtClean="0">
                        <a:latin typeface="Cambria Math" panose="02040503050406030204" pitchFamily="18" charset="0"/>
                        <a:ea typeface="Cambria Math" panose="02040503050406030204" pitchFamily="18" charset="0"/>
                      </a:rPr>
                      <m:t>×</m:t>
                    </m:r>
                    <m:d>
                      <m:dPr>
                        <m:ctrlPr>
                          <a:rPr lang="en-US" sz="1400" b="1" i="1" smtClean="0">
                            <a:latin typeface="Cambria Math" panose="02040503050406030204" pitchFamily="18" charset="0"/>
                            <a:ea typeface="Cambria Math" panose="02040503050406030204" pitchFamily="18" charset="0"/>
                          </a:rPr>
                        </m:ctrlPr>
                      </m:dPr>
                      <m:e>
                        <m:r>
                          <a:rPr lang="en-US" sz="1400" b="1" i="1" smtClean="0">
                            <a:latin typeface="Cambria Math" panose="02040503050406030204" pitchFamily="18" charset="0"/>
                            <a:ea typeface="Cambria Math" panose="02040503050406030204" pitchFamily="18" charset="0"/>
                          </a:rPr>
                          <m:t>𝟒</m:t>
                        </m:r>
                        <m:r>
                          <a:rPr lang="en-US" sz="1400" b="1"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ea typeface="Cambria Math" panose="02040503050406030204" pitchFamily="18" charset="0"/>
                          </a:rPr>
                          <m:t>𝟏</m:t>
                        </m:r>
                      </m:e>
                    </m:d>
                    <m:r>
                      <a:rPr lang="en-US" sz="1400" b="1" i="1" smtClean="0">
                        <a:latin typeface="Cambria Math" panose="02040503050406030204" pitchFamily="18" charset="0"/>
                        <a:ea typeface="Cambria Math" panose="02040503050406030204" pitchFamily="18" charset="0"/>
                      </a:rPr>
                      <m:t>=</m:t>
                    </m:r>
                    <m:r>
                      <a:rPr lang="en-US" sz="1400" b="1" i="1" smtClean="0">
                        <a:latin typeface="Cambria Math" panose="02040503050406030204" pitchFamily="18" charset="0"/>
                        <a:ea typeface="Cambria Math" panose="02040503050406030204" pitchFamily="18" charset="0"/>
                      </a:rPr>
                      <m:t>𝟑</m:t>
                    </m:r>
                  </m:oMath>
                </a14:m>
                <a:r>
                  <a:rPr lang="en-US" sz="1400" dirty="0"/>
                  <a:t>, hence the condition is satisfied</a:t>
                </a:r>
              </a:p>
              <a:p>
                <a:pPr lvl="1" indent="-457200" algn="just">
                  <a:spcBef>
                    <a:spcPts val="200"/>
                  </a:spcBef>
                </a:pPr>
                <a:r>
                  <a:rPr lang="en-US" sz="1400" dirty="0"/>
                  <a:t>Hence, all the conditions for the Chi-squared test for independence are satisfied</a:t>
                </a:r>
              </a:p>
              <a:p>
                <a:pPr lvl="1" algn="just">
                  <a:lnSpc>
                    <a:spcPct val="150000"/>
                  </a:lnSpc>
                </a:pPr>
                <a:endParaRPr lang="en-US" sz="1400" dirty="0"/>
              </a:p>
            </p:txBody>
          </p:sp>
        </mc:Choice>
        <mc:Fallback xmlns="">
          <p:sp>
            <p:nvSpPr>
              <p:cNvPr id="7" name="TextBox 6">
                <a:extLst>
                  <a:ext uri="{FF2B5EF4-FFF2-40B4-BE49-F238E27FC236}">
                    <a16:creationId xmlns:a16="http://schemas.microsoft.com/office/drawing/2014/main" id="{EDBCFA17-408F-3A79-6713-0E3203124BB6}"/>
                  </a:ext>
                </a:extLst>
              </p:cNvPr>
              <p:cNvSpPr txBox="1">
                <a:spLocks noRot="1" noChangeAspect="1" noMove="1" noResize="1" noEditPoints="1" noAdjustHandles="1" noChangeArrowheads="1" noChangeShapeType="1" noTextEdit="1"/>
              </p:cNvSpPr>
              <p:nvPr/>
            </p:nvSpPr>
            <p:spPr>
              <a:xfrm>
                <a:off x="214008" y="1050372"/>
                <a:ext cx="11773712" cy="2120846"/>
              </a:xfrm>
              <a:prstGeom prst="rect">
                <a:avLst/>
              </a:prstGeom>
              <a:blipFill>
                <a:blip r:embed="rId2"/>
                <a:stretch>
                  <a:fillRect l="-103"/>
                </a:stretch>
              </a:blipFill>
              <a:ln>
                <a:solidFill>
                  <a:schemeClr val="bg1">
                    <a:lumMod val="75000"/>
                  </a:schemeClr>
                </a:solid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26BBA9B7-B748-D5AF-DDF5-F48B4A06DF90}"/>
              </a:ext>
            </a:extLst>
          </p:cNvPr>
          <p:cNvSpPr txBox="1"/>
          <p:nvPr/>
        </p:nvSpPr>
        <p:spPr>
          <a:xfrm>
            <a:off x="194552" y="3314415"/>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Test Outcome</a:t>
            </a:r>
          </a:p>
        </p:txBody>
      </p:sp>
      <p:pic>
        <p:nvPicPr>
          <p:cNvPr id="5" name="Picture 4">
            <a:extLst>
              <a:ext uri="{FF2B5EF4-FFF2-40B4-BE49-F238E27FC236}">
                <a16:creationId xmlns:a16="http://schemas.microsoft.com/office/drawing/2014/main" id="{338DFFA8-6C6F-E817-8A0B-C5B7549FEA21}"/>
              </a:ext>
            </a:extLst>
          </p:cNvPr>
          <p:cNvPicPr>
            <a:picLocks noChangeAspect="1"/>
          </p:cNvPicPr>
          <p:nvPr/>
        </p:nvPicPr>
        <p:blipFill>
          <a:blip r:embed="rId3"/>
          <a:stretch>
            <a:fillRect/>
          </a:stretch>
        </p:blipFill>
        <p:spPr>
          <a:xfrm>
            <a:off x="214006" y="3666089"/>
            <a:ext cx="4564958" cy="946737"/>
          </a:xfrm>
          <a:prstGeom prst="rect">
            <a:avLst/>
          </a:prstGeom>
        </p:spPr>
      </p:pic>
      <p:sp>
        <p:nvSpPr>
          <p:cNvPr id="13" name="TextBox 12">
            <a:extLst>
              <a:ext uri="{FF2B5EF4-FFF2-40B4-BE49-F238E27FC236}">
                <a16:creationId xmlns:a16="http://schemas.microsoft.com/office/drawing/2014/main" id="{2B7F5BF7-9195-8D18-ED63-9EEB55E8B4E4}"/>
              </a:ext>
            </a:extLst>
          </p:cNvPr>
          <p:cNvSpPr txBox="1"/>
          <p:nvPr/>
        </p:nvSpPr>
        <p:spPr>
          <a:xfrm>
            <a:off x="6096000" y="3314415"/>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Conclusion</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0CA0895-7141-47A0-DE2F-2B2C8C75FDD3}"/>
                  </a:ext>
                </a:extLst>
              </p:cNvPr>
              <p:cNvSpPr txBox="1"/>
              <p:nvPr/>
            </p:nvSpPr>
            <p:spPr>
              <a:xfrm>
                <a:off x="6108970" y="3743913"/>
                <a:ext cx="5878750" cy="1734982"/>
              </a:xfrm>
              <a:prstGeom prst="rect">
                <a:avLst/>
              </a:prstGeom>
              <a:noFill/>
              <a:ln>
                <a:solidFill>
                  <a:schemeClr val="bg1">
                    <a:lumMod val="75000"/>
                  </a:schemeClr>
                </a:solidFill>
              </a:ln>
            </p:spPr>
            <p:txBody>
              <a:bodyPr wrap="square" rtlCol="0">
                <a:noAutofit/>
              </a:bodyPr>
              <a:lstStyle/>
              <a:p>
                <a:pPr algn="just">
                  <a:spcBef>
                    <a:spcPts val="200"/>
                  </a:spcBef>
                </a:pPr>
                <a:r>
                  <a:rPr lang="en-US" sz="1400" dirty="0"/>
                  <a:t>For a significance level of </a:t>
                </a:r>
                <a14:m>
                  <m:oMath xmlns:m="http://schemas.openxmlformats.org/officeDocument/2006/math">
                    <m:r>
                      <a:rPr lang="en-US" sz="1400" i="1" smtClean="0">
                        <a:latin typeface="Cambria Math" panose="02040503050406030204" pitchFamily="18" charset="0"/>
                        <a:ea typeface="Cambria Math" panose="02040503050406030204" pitchFamily="18" charset="0"/>
                      </a:rPr>
                      <m:t>𝛼</m:t>
                    </m:r>
                    <m:r>
                      <a:rPr lang="en-US" sz="1400" i="1" smtClean="0">
                        <a:latin typeface="Cambria Math" panose="02040503050406030204" pitchFamily="18" charset="0"/>
                      </a:rPr>
                      <m:t>=</m:t>
                    </m:r>
                    <m:r>
                      <a:rPr lang="en-US" sz="1400" b="0" i="1" smtClean="0">
                        <a:latin typeface="Cambria Math" panose="02040503050406030204" pitchFamily="18" charset="0"/>
                      </a:rPr>
                      <m:t>0.05</m:t>
                    </m:r>
                  </m:oMath>
                </a14:m>
                <a:r>
                  <a:rPr lang="en-US" sz="1400" dirty="0"/>
                  <a:t>, the </a:t>
                </a:r>
                <a14:m>
                  <m:oMath xmlns:m="http://schemas.openxmlformats.org/officeDocument/2006/math">
                    <m:r>
                      <a:rPr lang="en-US" sz="1400" b="0" i="1" smtClean="0">
                        <a:latin typeface="Cambria Math" panose="02040503050406030204" pitchFamily="18" charset="0"/>
                      </a:rPr>
                      <m:t>𝑝</m:t>
                    </m:r>
                    <m:r>
                      <a:rPr lang="en-US" sz="1400" b="0" i="1" smtClean="0">
                        <a:latin typeface="Cambria Math" panose="02040503050406030204" pitchFamily="18" charset="0"/>
                      </a:rPr>
                      <m:t>_</m:t>
                    </m:r>
                    <m:r>
                      <a:rPr lang="en-US" sz="1400" b="0" i="1" smtClean="0">
                        <a:latin typeface="Cambria Math" panose="02040503050406030204" pitchFamily="18" charset="0"/>
                      </a:rPr>
                      <m:t>𝑣𝑎𝑙𝑢𝑒</m:t>
                    </m:r>
                    <m:r>
                      <a:rPr lang="en-US" sz="1400" b="0" i="1" smtClean="0">
                        <a:latin typeface="Cambria Math" panose="02040503050406030204" pitchFamily="18" charset="0"/>
                      </a:rPr>
                      <m:t>&lt;</m:t>
                    </m:r>
                    <m:r>
                      <a:rPr lang="en-US" sz="1400" b="0" i="1" smtClean="0">
                        <a:latin typeface="Cambria Math" panose="02040503050406030204" pitchFamily="18" charset="0"/>
                        <a:ea typeface="Cambria Math" panose="02040503050406030204" pitchFamily="18" charset="0"/>
                      </a:rPr>
                      <m:t>𝛼</m:t>
                    </m:r>
                  </m:oMath>
                </a14:m>
                <a:r>
                  <a:rPr lang="en-US" sz="1400" dirty="0"/>
                  <a:t>, therefore we </a:t>
                </a:r>
                <a:r>
                  <a:rPr lang="en-US" sz="1400" b="1" dirty="0"/>
                  <a:t>reject</a:t>
                </a:r>
                <a:r>
                  <a:rPr lang="en-US" sz="1400" dirty="0"/>
                  <a:t> the Null Hypothesis (</a:t>
                </a:r>
                <a:r>
                  <a:rPr lang="en-US" sz="1400" b="1" dirty="0"/>
                  <a:t>H</a:t>
                </a:r>
                <a:r>
                  <a:rPr lang="en-US" sz="1400" b="1" baseline="-25000" dirty="0"/>
                  <a:t>0</a:t>
                </a:r>
                <a:r>
                  <a:rPr lang="en-US" sz="1400" dirty="0"/>
                  <a:t>).</a:t>
                </a:r>
              </a:p>
              <a:p>
                <a:pPr algn="just">
                  <a:spcBef>
                    <a:spcPts val="200"/>
                  </a:spcBef>
                </a:pPr>
                <a:endParaRPr lang="en-US" sz="1400" dirty="0"/>
              </a:p>
              <a:p>
                <a:pPr algn="just">
                  <a:spcBef>
                    <a:spcPts val="200"/>
                  </a:spcBef>
                </a:pPr>
                <a:r>
                  <a:rPr lang="en-US" sz="1400" b="1" i="1" dirty="0"/>
                  <a:t>Thus, we conclude that we conclude that at least one of the treatments is more or less effective than the others at treating AIDS</a:t>
                </a:r>
              </a:p>
              <a:p>
                <a:pPr algn="just">
                  <a:lnSpc>
                    <a:spcPct val="150000"/>
                  </a:lnSpc>
                </a:pPr>
                <a:endParaRPr lang="en-US" sz="1400" dirty="0"/>
              </a:p>
            </p:txBody>
          </p:sp>
        </mc:Choice>
        <mc:Fallback xmlns="">
          <p:sp>
            <p:nvSpPr>
              <p:cNvPr id="14" name="TextBox 13">
                <a:extLst>
                  <a:ext uri="{FF2B5EF4-FFF2-40B4-BE49-F238E27FC236}">
                    <a16:creationId xmlns:a16="http://schemas.microsoft.com/office/drawing/2014/main" id="{40CA0895-7141-47A0-DE2F-2B2C8C75FDD3}"/>
                  </a:ext>
                </a:extLst>
              </p:cNvPr>
              <p:cNvSpPr txBox="1">
                <a:spLocks noRot="1" noChangeAspect="1" noMove="1" noResize="1" noEditPoints="1" noAdjustHandles="1" noChangeArrowheads="1" noChangeShapeType="1" noTextEdit="1"/>
              </p:cNvSpPr>
              <p:nvPr/>
            </p:nvSpPr>
            <p:spPr>
              <a:xfrm>
                <a:off x="6108970" y="3743913"/>
                <a:ext cx="5878750" cy="1734982"/>
              </a:xfrm>
              <a:prstGeom prst="rect">
                <a:avLst/>
              </a:prstGeom>
              <a:blipFill>
                <a:blip r:embed="rId4"/>
                <a:stretch>
                  <a:fillRect l="-207" t="-348" r="-207"/>
                </a:stretch>
              </a:blipFill>
              <a:ln>
                <a:solidFill>
                  <a:schemeClr val="bg1">
                    <a:lumMod val="75000"/>
                  </a:schemeClr>
                </a:solidFill>
              </a:ln>
            </p:spPr>
            <p:txBody>
              <a:bodyPr/>
              <a:lstStyle/>
              <a:p>
                <a:r>
                  <a:rPr lang="en-US">
                    <a:noFill/>
                  </a:rPr>
                  <a:t> </a:t>
                </a:r>
              </a:p>
            </p:txBody>
          </p:sp>
        </mc:Fallback>
      </mc:AlternateContent>
      <p:sp>
        <p:nvSpPr>
          <p:cNvPr id="17" name="Slide Number Placeholder 3">
            <a:extLst>
              <a:ext uri="{FF2B5EF4-FFF2-40B4-BE49-F238E27FC236}">
                <a16:creationId xmlns:a16="http://schemas.microsoft.com/office/drawing/2014/main" id="{13DBDDE0-4CD7-E273-D1E9-7C2BB1D66B19}"/>
              </a:ext>
            </a:extLst>
          </p:cNvPr>
          <p:cNvSpPr>
            <a:spLocks noGrp="1"/>
          </p:cNvSpPr>
          <p:nvPr>
            <p:ph type="sldNum" sz="quarter" idx="12"/>
          </p:nvPr>
        </p:nvSpPr>
        <p:spPr>
          <a:xfrm>
            <a:off x="9448800" y="6387506"/>
            <a:ext cx="2743200" cy="365125"/>
          </a:xfrm>
        </p:spPr>
        <p:txBody>
          <a:bodyPr/>
          <a:lstStyle/>
          <a:p>
            <a:fld id="{A6AF1B4E-90EC-4A51-B6E5-B702C054ECB0}" type="slidenum">
              <a:rPr lang="en-US" smtClean="0"/>
              <a:t>9</a:t>
            </a:fld>
            <a:endParaRPr lang="en-US" dirty="0"/>
          </a:p>
        </p:txBody>
      </p:sp>
      <p:pic>
        <p:nvPicPr>
          <p:cNvPr id="23" name="Picture 22" descr="A graph of a function&#10;&#10;Description automatically generated">
            <a:extLst>
              <a:ext uri="{FF2B5EF4-FFF2-40B4-BE49-F238E27FC236}">
                <a16:creationId xmlns:a16="http://schemas.microsoft.com/office/drawing/2014/main" id="{2A579ED4-A248-3D7F-CB38-0DBD1FE02E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744" y="4562856"/>
            <a:ext cx="4480560" cy="2240280"/>
          </a:xfrm>
          <a:prstGeom prst="rect">
            <a:avLst/>
          </a:prstGeom>
        </p:spPr>
      </p:pic>
    </p:spTree>
    <p:extLst>
      <p:ext uri="{BB962C8B-B14F-4D97-AF65-F5344CB8AC3E}">
        <p14:creationId xmlns:p14="http://schemas.microsoft.com/office/powerpoint/2010/main" val="3527986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32BD-F180-4C1B-4255-C99A0EA55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BB39A1-65AF-A6F1-6432-6013379DA475}"/>
              </a:ext>
            </a:extLst>
          </p:cNvPr>
          <p:cNvSpPr>
            <a:spLocks noGrp="1"/>
          </p:cNvSpPr>
          <p:nvPr>
            <p:ph type="title"/>
          </p:nvPr>
        </p:nvSpPr>
        <p:spPr>
          <a:xfrm>
            <a:off x="194552" y="38912"/>
            <a:ext cx="11997447" cy="578458"/>
          </a:xfrm>
        </p:spPr>
        <p:txBody>
          <a:bodyPr>
            <a:normAutofit/>
          </a:bodyPr>
          <a:lstStyle/>
          <a:p>
            <a:r>
              <a:rPr lang="en-US" sz="3200" b="1" dirty="0"/>
              <a:t>Treatment Efficacy Analysis and Findings -  Based on c4 count (1/3)</a:t>
            </a:r>
          </a:p>
        </p:txBody>
      </p:sp>
      <p:sp>
        <p:nvSpPr>
          <p:cNvPr id="3" name="TextBox 2">
            <a:extLst>
              <a:ext uri="{FF2B5EF4-FFF2-40B4-BE49-F238E27FC236}">
                <a16:creationId xmlns:a16="http://schemas.microsoft.com/office/drawing/2014/main" id="{226348B3-5D05-4052-2FA9-BD804B13556A}"/>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Test Setup</a:t>
            </a:r>
          </a:p>
        </p:txBody>
      </p:sp>
      <p:sp>
        <p:nvSpPr>
          <p:cNvPr id="4" name="TextBox 3">
            <a:extLst>
              <a:ext uri="{FF2B5EF4-FFF2-40B4-BE49-F238E27FC236}">
                <a16:creationId xmlns:a16="http://schemas.microsoft.com/office/drawing/2014/main" id="{E78FD941-9D03-484A-25DF-0E3F6D5D845F}"/>
              </a:ext>
            </a:extLst>
          </p:cNvPr>
          <p:cNvSpPr txBox="1"/>
          <p:nvPr/>
        </p:nvSpPr>
        <p:spPr>
          <a:xfrm>
            <a:off x="214008" y="1050371"/>
            <a:ext cx="11773712" cy="1028069"/>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b="1" dirty="0"/>
              <a:t>Variables under consideration</a:t>
            </a:r>
            <a:r>
              <a:rPr lang="en-US" sz="1400" dirty="0"/>
              <a:t>: Treatment Groups (</a:t>
            </a:r>
            <a:r>
              <a:rPr lang="en-US" sz="1400" dirty="0" err="1"/>
              <a:t>trt</a:t>
            </a:r>
            <a:r>
              <a:rPr lang="en-US" sz="1400" dirty="0"/>
              <a:t>) vs Difference in c4 count from 20 weeks to the start of the treatment (diff_cd4_from_baseline)</a:t>
            </a:r>
          </a:p>
          <a:p>
            <a:pPr marL="285750" indent="-285750" algn="just">
              <a:spcBef>
                <a:spcPts val="200"/>
              </a:spcBef>
              <a:buFont typeface="Arial" panose="020B0604020202020204" pitchFamily="34" charset="0"/>
              <a:buChar char="•"/>
            </a:pPr>
            <a:r>
              <a:rPr lang="en-US" sz="1400" b="1" dirty="0"/>
              <a:t>Variable types</a:t>
            </a:r>
            <a:r>
              <a:rPr lang="en-US" sz="1400" dirty="0"/>
              <a:t>: Categorical vs Numerical</a:t>
            </a:r>
          </a:p>
          <a:p>
            <a:pPr marL="285750" indent="-285750" algn="just">
              <a:spcBef>
                <a:spcPts val="200"/>
              </a:spcBef>
              <a:buFont typeface="Arial" panose="020B0604020202020204" pitchFamily="34" charset="0"/>
              <a:buChar char="•"/>
            </a:pPr>
            <a:r>
              <a:rPr lang="en-US" sz="1400" b="1" dirty="0"/>
              <a:t>Statistical test</a:t>
            </a:r>
            <a:r>
              <a:rPr lang="en-US" sz="1400" dirty="0"/>
              <a:t>: ANOVA and F-test (Comparing many means)</a:t>
            </a:r>
          </a:p>
          <a:p>
            <a:pPr marL="285750" indent="-285750" algn="just">
              <a:spcBef>
                <a:spcPts val="200"/>
              </a:spcBef>
              <a:buFont typeface="Arial" panose="020B0604020202020204" pitchFamily="34" charset="0"/>
              <a:buChar char="•"/>
            </a:pPr>
            <a:r>
              <a:rPr lang="en-US" sz="1400" b="1" dirty="0"/>
              <a:t>Confidence Level: </a:t>
            </a:r>
            <a:r>
              <a:rPr lang="en-US" sz="1400" dirty="0"/>
              <a:t>95% (𝛼=0.05)</a:t>
            </a:r>
          </a:p>
        </p:txBody>
      </p:sp>
      <p:sp>
        <p:nvSpPr>
          <p:cNvPr id="5" name="TextBox 4">
            <a:extLst>
              <a:ext uri="{FF2B5EF4-FFF2-40B4-BE49-F238E27FC236}">
                <a16:creationId xmlns:a16="http://schemas.microsoft.com/office/drawing/2014/main" id="{1B97A70D-4016-7A5A-19A8-6DFDAF4FC988}"/>
              </a:ext>
            </a:extLst>
          </p:cNvPr>
          <p:cNvSpPr txBox="1"/>
          <p:nvPr/>
        </p:nvSpPr>
        <p:spPr>
          <a:xfrm>
            <a:off x="214008" y="2211799"/>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Hypothesis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4DE0F15-E6DE-E86F-C3D7-649C2FEF0C50}"/>
                  </a:ext>
                </a:extLst>
              </p:cNvPr>
              <p:cNvSpPr txBox="1"/>
              <p:nvPr/>
            </p:nvSpPr>
            <p:spPr>
              <a:xfrm>
                <a:off x="214008" y="2562687"/>
                <a:ext cx="11773712" cy="1744961"/>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dirty="0"/>
                  <a:t>Null Hypothesis</a:t>
                </a:r>
              </a:p>
              <a:p>
                <a:pPr lvl="1" algn="just">
                  <a:spcBef>
                    <a:spcPts val="200"/>
                  </a:spcBef>
                </a:pPr>
                <a:r>
                  <a:rPr lang="en-US" sz="1400" b="1" dirty="0"/>
                  <a:t>H</a:t>
                </a:r>
                <a:r>
                  <a:rPr lang="en-US" sz="1400" b="1" baseline="-25000" dirty="0"/>
                  <a:t>0</a:t>
                </a:r>
                <a:r>
                  <a:rPr lang="en-US" sz="1400" b="1" dirty="0"/>
                  <a:t>:  The average difference in cd4 count between post 20 ± 5 weeks of treatment and the starting point is identical in all treatment groups. Any observed difference is due to chance. That is,  </a:t>
                </a:r>
                <a14:m>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ea typeface="Cambria Math" panose="02040503050406030204" pitchFamily="18" charset="0"/>
                          </a:rPr>
                          <m:t>𝝁</m:t>
                        </m:r>
                      </m:e>
                      <m:sub>
                        <m:r>
                          <a:rPr lang="en-US" sz="1400" b="1" i="1" smtClean="0">
                            <a:latin typeface="Cambria Math" panose="02040503050406030204" pitchFamily="18" charset="0"/>
                          </a:rPr>
                          <m:t>𝒁𝑫𝑽</m:t>
                        </m:r>
                        <m:r>
                          <a:rPr lang="en-US" sz="1400" b="1" i="1" smtClean="0">
                            <a:latin typeface="Cambria Math" panose="02040503050406030204" pitchFamily="18" charset="0"/>
                          </a:rPr>
                          <m:t> </m:t>
                        </m:r>
                        <m:r>
                          <a:rPr lang="en-US" sz="1400" b="1" i="1" smtClean="0">
                            <a:latin typeface="Cambria Math" panose="02040503050406030204" pitchFamily="18" charset="0"/>
                          </a:rPr>
                          <m:t>𝒐𝒏𝒍𝒚</m:t>
                        </m:r>
                      </m:sub>
                    </m:sSub>
                    <m:r>
                      <a:rPr lang="en-US" sz="1400" b="1" i="1" smtClean="0">
                        <a:latin typeface="Cambria Math" panose="02040503050406030204" pitchFamily="18" charset="0"/>
                        <a:ea typeface="Cambria Math" panose="02040503050406030204" pitchFamily="18" charset="0"/>
                      </a:rPr>
                      <m:t>=</m:t>
                    </m:r>
                  </m:oMath>
                </a14:m>
                <a:r>
                  <a:rPr lang="en-US" sz="1400" b="1" dirty="0"/>
                  <a:t> </a:t>
                </a:r>
                <a14:m>
                  <m:oMath xmlns:m="http://schemas.openxmlformats.org/officeDocument/2006/math">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a:latin typeface="Cambria Math" panose="02040503050406030204" pitchFamily="18" charset="0"/>
                          </a:rPr>
                          <m:t>𝒁𝑫𝑽</m:t>
                        </m:r>
                        <m:r>
                          <a:rPr lang="en-US" sz="1400" b="1" i="1" smtClean="0">
                            <a:latin typeface="Cambria Math" panose="02040503050406030204" pitchFamily="18" charset="0"/>
                          </a:rPr>
                          <m:t>+</m:t>
                        </m:r>
                        <m:r>
                          <a:rPr lang="en-US" sz="1400" b="1" i="1" smtClean="0">
                            <a:latin typeface="Cambria Math" panose="02040503050406030204" pitchFamily="18" charset="0"/>
                          </a:rPr>
                          <m:t>𝒅𝒅𝑰</m:t>
                        </m:r>
                      </m:sub>
                    </m:sSub>
                    <m:r>
                      <a:rPr lang="en-US" sz="1400" b="1" i="1">
                        <a:latin typeface="Cambria Math" panose="02040503050406030204" pitchFamily="18" charset="0"/>
                        <a:ea typeface="Cambria Math" panose="02040503050406030204" pitchFamily="18" charset="0"/>
                      </a:rPr>
                      <m:t>=</m:t>
                    </m:r>
                    <m:r>
                      <m:rPr>
                        <m:nor/>
                      </m:rPr>
                      <a:rPr lang="en-US" sz="1400" b="1" dirty="0"/>
                      <m:t> </m:t>
                    </m:r>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a:latin typeface="Cambria Math" panose="02040503050406030204" pitchFamily="18" charset="0"/>
                          </a:rPr>
                          <m:t>𝒁𝑫𝑽</m:t>
                        </m:r>
                        <m:r>
                          <a:rPr lang="en-US" sz="1400" b="1" i="1" smtClean="0">
                            <a:latin typeface="Cambria Math" panose="02040503050406030204" pitchFamily="18" charset="0"/>
                          </a:rPr>
                          <m:t>+</m:t>
                        </m:r>
                        <m:r>
                          <a:rPr lang="en-US" sz="1400" b="1" i="1" smtClean="0">
                            <a:latin typeface="Cambria Math" panose="02040503050406030204" pitchFamily="18" charset="0"/>
                          </a:rPr>
                          <m:t>𝒁𝒂𝒍</m:t>
                        </m:r>
                      </m:sub>
                    </m:sSub>
                    <m:r>
                      <a:rPr lang="en-US" sz="1400" b="1" i="1">
                        <a:latin typeface="Cambria Math" panose="02040503050406030204" pitchFamily="18" charset="0"/>
                        <a:ea typeface="Cambria Math" panose="02040503050406030204" pitchFamily="18" charset="0"/>
                      </a:rPr>
                      <m:t>=</m:t>
                    </m:r>
                    <m:r>
                      <m:rPr>
                        <m:nor/>
                      </m:rPr>
                      <a:rPr lang="en-US" sz="1400" b="1" dirty="0"/>
                      <m:t> </m:t>
                    </m:r>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smtClean="0">
                            <a:latin typeface="Cambria Math" panose="02040503050406030204" pitchFamily="18" charset="0"/>
                            <a:ea typeface="Cambria Math" panose="02040503050406030204" pitchFamily="18" charset="0"/>
                          </a:rPr>
                          <m:t>𝒅𝒅𝑰</m:t>
                        </m:r>
                        <m:r>
                          <a:rPr lang="en-US" sz="1400" b="1"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ea typeface="Cambria Math" panose="02040503050406030204" pitchFamily="18" charset="0"/>
                          </a:rPr>
                          <m:t>𝒐𝒏𝒍𝒚</m:t>
                        </m:r>
                      </m:sub>
                    </m:sSub>
                  </m:oMath>
                </a14:m>
                <a:endParaRPr lang="en-US" sz="1400" b="1" dirty="0"/>
              </a:p>
              <a:p>
                <a:pPr marL="285750" indent="-285750" algn="just">
                  <a:spcBef>
                    <a:spcPts val="200"/>
                  </a:spcBef>
                  <a:buFont typeface="Arial" panose="020B0604020202020204" pitchFamily="34" charset="0"/>
                  <a:buChar char="•"/>
                </a:pPr>
                <a:r>
                  <a:rPr lang="en-US" sz="1400" dirty="0"/>
                  <a:t>Alternative Hypothesis</a:t>
                </a:r>
              </a:p>
              <a:p>
                <a:pPr lvl="1" algn="just">
                  <a:spcBef>
                    <a:spcPts val="200"/>
                  </a:spcBef>
                </a:pPr>
                <a:r>
                  <a:rPr lang="en-US" sz="1400" b="1" dirty="0"/>
                  <a:t>H</a:t>
                </a:r>
                <a:r>
                  <a:rPr lang="en-US" sz="1400" b="1" baseline="-25000" dirty="0"/>
                  <a:t>A</a:t>
                </a:r>
                <a:r>
                  <a:rPr lang="en-US" sz="1400" b="1" dirty="0"/>
                  <a:t>: The average difference in cd4 count between post 20 ± 5 weeks of treatment and the starting point is NOT  identical in all treatment groups. That is, one or more treatment group(s) increases the cd4 count significantly more than other treatment group(s), thus the efficacy of the treatment group(s) is better</a:t>
                </a:r>
              </a:p>
            </p:txBody>
          </p:sp>
        </mc:Choice>
        <mc:Fallback xmlns="">
          <p:sp>
            <p:nvSpPr>
              <p:cNvPr id="6" name="TextBox 5">
                <a:extLst>
                  <a:ext uri="{FF2B5EF4-FFF2-40B4-BE49-F238E27FC236}">
                    <a16:creationId xmlns:a16="http://schemas.microsoft.com/office/drawing/2014/main" id="{74DE0F15-E6DE-E86F-C3D7-649C2FEF0C50}"/>
                  </a:ext>
                </a:extLst>
              </p:cNvPr>
              <p:cNvSpPr txBox="1">
                <a:spLocks noRot="1" noChangeAspect="1" noMove="1" noResize="1" noEditPoints="1" noAdjustHandles="1" noChangeArrowheads="1" noChangeShapeType="1" noTextEdit="1"/>
              </p:cNvSpPr>
              <p:nvPr/>
            </p:nvSpPr>
            <p:spPr>
              <a:xfrm>
                <a:off x="214008" y="2562687"/>
                <a:ext cx="11773712" cy="1744961"/>
              </a:xfrm>
              <a:prstGeom prst="rect">
                <a:avLst/>
              </a:prstGeom>
              <a:blipFill>
                <a:blip r:embed="rId2"/>
                <a:stretch>
                  <a:fillRect r="-103"/>
                </a:stretch>
              </a:blipFill>
              <a:ln>
                <a:solidFill>
                  <a:schemeClr val="bg1">
                    <a:lumMod val="75000"/>
                  </a:schemeClr>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2398F1FE-95BC-2E95-7107-1500FE938FF8}"/>
              </a:ext>
            </a:extLst>
          </p:cNvPr>
          <p:cNvSpPr txBox="1"/>
          <p:nvPr/>
        </p:nvSpPr>
        <p:spPr>
          <a:xfrm>
            <a:off x="214006" y="4445320"/>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Analysis</a:t>
            </a:r>
          </a:p>
        </p:txBody>
      </p:sp>
      <p:pic>
        <p:nvPicPr>
          <p:cNvPr id="11" name="Picture 10">
            <a:extLst>
              <a:ext uri="{FF2B5EF4-FFF2-40B4-BE49-F238E27FC236}">
                <a16:creationId xmlns:a16="http://schemas.microsoft.com/office/drawing/2014/main" id="{E0AAFD06-FF3A-A64F-B75B-869850DED8D2}"/>
              </a:ext>
            </a:extLst>
          </p:cNvPr>
          <p:cNvPicPr>
            <a:picLocks noChangeAspect="1"/>
          </p:cNvPicPr>
          <p:nvPr/>
        </p:nvPicPr>
        <p:blipFill>
          <a:blip r:embed="rId3"/>
          <a:stretch>
            <a:fillRect/>
          </a:stretch>
        </p:blipFill>
        <p:spPr>
          <a:xfrm>
            <a:off x="214006" y="4858865"/>
            <a:ext cx="6744387" cy="1588822"/>
          </a:xfrm>
          <a:prstGeom prst="rect">
            <a:avLst/>
          </a:prstGeom>
        </p:spPr>
      </p:pic>
    </p:spTree>
    <p:extLst>
      <p:ext uri="{BB962C8B-B14F-4D97-AF65-F5344CB8AC3E}">
        <p14:creationId xmlns:p14="http://schemas.microsoft.com/office/powerpoint/2010/main" val="158624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4628-08D1-CDD7-E395-79E3F53D4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653BA-D845-9A0D-A15B-9C453F981C64}"/>
              </a:ext>
            </a:extLst>
          </p:cNvPr>
          <p:cNvSpPr>
            <a:spLocks noGrp="1"/>
          </p:cNvSpPr>
          <p:nvPr>
            <p:ph type="title"/>
          </p:nvPr>
        </p:nvSpPr>
        <p:spPr>
          <a:xfrm>
            <a:off x="194552" y="38912"/>
            <a:ext cx="11997447" cy="578458"/>
          </a:xfrm>
        </p:spPr>
        <p:txBody>
          <a:bodyPr>
            <a:normAutofit/>
          </a:bodyPr>
          <a:lstStyle/>
          <a:p>
            <a:r>
              <a:rPr lang="en-US" sz="3200" b="1" dirty="0"/>
              <a:t>Treatment Efficacy Analysis and Findings -  Based on c4 count (2/3)</a:t>
            </a:r>
          </a:p>
        </p:txBody>
      </p:sp>
      <p:pic>
        <p:nvPicPr>
          <p:cNvPr id="9" name="Picture 8">
            <a:extLst>
              <a:ext uri="{FF2B5EF4-FFF2-40B4-BE49-F238E27FC236}">
                <a16:creationId xmlns:a16="http://schemas.microsoft.com/office/drawing/2014/main" id="{2BADC02D-47A6-150E-FAB2-8571DCE1B8BF}"/>
              </a:ext>
            </a:extLst>
          </p:cNvPr>
          <p:cNvPicPr>
            <a:picLocks noChangeAspect="1"/>
          </p:cNvPicPr>
          <p:nvPr/>
        </p:nvPicPr>
        <p:blipFill>
          <a:blip r:embed="rId3"/>
          <a:stretch>
            <a:fillRect/>
          </a:stretch>
        </p:blipFill>
        <p:spPr>
          <a:xfrm>
            <a:off x="1034056" y="1441746"/>
            <a:ext cx="3742225" cy="4348329"/>
          </a:xfrm>
          <a:prstGeom prst="rect">
            <a:avLst/>
          </a:prstGeom>
        </p:spPr>
      </p:pic>
      <p:sp>
        <p:nvSpPr>
          <p:cNvPr id="8" name="TextBox 7">
            <a:extLst>
              <a:ext uri="{FF2B5EF4-FFF2-40B4-BE49-F238E27FC236}">
                <a16:creationId xmlns:a16="http://schemas.microsoft.com/office/drawing/2014/main" id="{151A1909-0A9E-D78A-70D0-FDA8E232E420}"/>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Analysis (</a:t>
            </a:r>
            <a:r>
              <a:rPr lang="en-US" sz="1600" dirty="0" err="1">
                <a:solidFill>
                  <a:schemeClr val="bg1"/>
                </a:solidFill>
              </a:rPr>
              <a:t>cont</a:t>
            </a:r>
            <a:r>
              <a:rPr lang="en-US" sz="1600" dirty="0">
                <a:solidFill>
                  <a:schemeClr val="bg1"/>
                </a:solidFill>
              </a:rPr>
              <a:t>…)</a:t>
            </a:r>
          </a:p>
        </p:txBody>
      </p:sp>
      <p:pic>
        <p:nvPicPr>
          <p:cNvPr id="11" name="Picture 10">
            <a:extLst>
              <a:ext uri="{FF2B5EF4-FFF2-40B4-BE49-F238E27FC236}">
                <a16:creationId xmlns:a16="http://schemas.microsoft.com/office/drawing/2014/main" id="{190BA3E5-1916-77DC-7160-4A1D7649483E}"/>
              </a:ext>
            </a:extLst>
          </p:cNvPr>
          <p:cNvPicPr>
            <a:picLocks noChangeAspect="1"/>
          </p:cNvPicPr>
          <p:nvPr/>
        </p:nvPicPr>
        <p:blipFill>
          <a:blip r:embed="rId4"/>
          <a:stretch>
            <a:fillRect/>
          </a:stretch>
        </p:blipFill>
        <p:spPr>
          <a:xfrm>
            <a:off x="6631019" y="1441748"/>
            <a:ext cx="3742225" cy="4348328"/>
          </a:xfrm>
          <a:prstGeom prst="rect">
            <a:avLst/>
          </a:prstGeom>
        </p:spPr>
      </p:pic>
    </p:spTree>
    <p:extLst>
      <p:ext uri="{BB962C8B-B14F-4D97-AF65-F5344CB8AC3E}">
        <p14:creationId xmlns:p14="http://schemas.microsoft.com/office/powerpoint/2010/main" val="3312172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07A95-4981-649B-952D-332805B74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E1F17-FFB4-97B1-3C76-4ABB930C45B5}"/>
              </a:ext>
            </a:extLst>
          </p:cNvPr>
          <p:cNvSpPr>
            <a:spLocks noGrp="1"/>
          </p:cNvSpPr>
          <p:nvPr>
            <p:ph type="title"/>
          </p:nvPr>
        </p:nvSpPr>
        <p:spPr>
          <a:xfrm>
            <a:off x="194552" y="38912"/>
            <a:ext cx="11997447" cy="578458"/>
          </a:xfrm>
        </p:spPr>
        <p:txBody>
          <a:bodyPr>
            <a:normAutofit/>
          </a:bodyPr>
          <a:lstStyle/>
          <a:p>
            <a:r>
              <a:rPr lang="en-US" sz="3200" b="1" dirty="0"/>
              <a:t>Treatment Efficacy Analysis and Findings -  Based on c4 count (3/3)</a:t>
            </a:r>
          </a:p>
        </p:txBody>
      </p:sp>
      <p:sp>
        <p:nvSpPr>
          <p:cNvPr id="5" name="TextBox 4">
            <a:extLst>
              <a:ext uri="{FF2B5EF4-FFF2-40B4-BE49-F238E27FC236}">
                <a16:creationId xmlns:a16="http://schemas.microsoft.com/office/drawing/2014/main" id="{9BE90DD4-3719-412F-84C0-798287379758}"/>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Conditions</a:t>
            </a:r>
          </a:p>
        </p:txBody>
      </p:sp>
      <p:sp>
        <p:nvSpPr>
          <p:cNvPr id="6" name="TextBox 5">
            <a:extLst>
              <a:ext uri="{FF2B5EF4-FFF2-40B4-BE49-F238E27FC236}">
                <a16:creationId xmlns:a16="http://schemas.microsoft.com/office/drawing/2014/main" id="{809F268D-04F9-885A-AB16-25F5D0A93127}"/>
              </a:ext>
            </a:extLst>
          </p:cNvPr>
          <p:cNvSpPr txBox="1"/>
          <p:nvPr/>
        </p:nvSpPr>
        <p:spPr>
          <a:xfrm>
            <a:off x="214008" y="1050372"/>
            <a:ext cx="11773712" cy="2509952"/>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u="sng" dirty="0"/>
              <a:t>The observations should be independent within and across groups</a:t>
            </a:r>
          </a:p>
          <a:p>
            <a:pPr lvl="1" algn="just">
              <a:spcBef>
                <a:spcPts val="200"/>
              </a:spcBef>
            </a:pPr>
            <a:r>
              <a:rPr lang="en-US" sz="1400" dirty="0"/>
              <a:t>The data is from a double blinded controlled experiment. The patients inter and intra treatment groups are independent of each other</a:t>
            </a:r>
          </a:p>
          <a:p>
            <a:pPr marL="285750" indent="-285750" algn="just">
              <a:spcBef>
                <a:spcPts val="200"/>
              </a:spcBef>
              <a:buFont typeface="Arial" panose="020B0604020202020204" pitchFamily="34" charset="0"/>
              <a:buChar char="•"/>
            </a:pPr>
            <a:r>
              <a:rPr lang="en-US" sz="1400" u="sng" dirty="0"/>
              <a:t>The data within each group are nearly normal </a:t>
            </a:r>
          </a:p>
          <a:p>
            <a:pPr lvl="1" algn="just">
              <a:spcBef>
                <a:spcPts val="200"/>
              </a:spcBef>
            </a:pPr>
            <a:r>
              <a:rPr lang="en-US" sz="1400" dirty="0"/>
              <a:t>As seen in the histogram, the data within each group are nearly normal and we don’t find any extreme outliers otherwise</a:t>
            </a:r>
          </a:p>
          <a:p>
            <a:pPr marL="285750" indent="-285750" algn="just">
              <a:spcBef>
                <a:spcPts val="200"/>
              </a:spcBef>
              <a:buFont typeface="Arial" panose="020B0604020202020204" pitchFamily="34" charset="0"/>
              <a:buChar char="•"/>
            </a:pPr>
            <a:r>
              <a:rPr lang="en-US" sz="1400" u="sng" dirty="0"/>
              <a:t>The variability across the groups is about equal</a:t>
            </a:r>
          </a:p>
          <a:p>
            <a:pPr lvl="1" algn="just">
              <a:spcBef>
                <a:spcPts val="200"/>
              </a:spcBef>
            </a:pPr>
            <a:r>
              <a:rPr lang="en-US" sz="1400" dirty="0"/>
              <a:t>As seen in the box-plot and the summary table, the constant variance assumption appears to be reasonable</a:t>
            </a:r>
          </a:p>
          <a:p>
            <a:pPr lvl="1" algn="just">
              <a:spcBef>
                <a:spcPts val="200"/>
              </a:spcBef>
            </a:pPr>
            <a:r>
              <a:rPr lang="en-US" sz="1400" dirty="0"/>
              <a:t>Though the variance of ZDV + </a:t>
            </a:r>
            <a:r>
              <a:rPr lang="en-US" sz="1400" dirty="0" err="1"/>
              <a:t>ddI</a:t>
            </a:r>
            <a:r>
              <a:rPr lang="en-US" sz="1400" dirty="0"/>
              <a:t> is a bit higher than the rest of the groups, the range of deviations seems reasonable as we have enough sample size and we don’t have any extreme outliers, otherwise.</a:t>
            </a:r>
          </a:p>
          <a:p>
            <a:pPr lvl="1" indent="-457200" algn="just">
              <a:spcBef>
                <a:spcPts val="200"/>
              </a:spcBef>
            </a:pPr>
            <a:r>
              <a:rPr lang="en-US" sz="1400" dirty="0"/>
              <a:t>Hence, all the conditions for the ANOVA and F-test for comparing many means are satisfied.</a:t>
            </a:r>
          </a:p>
          <a:p>
            <a:pPr lvl="1" algn="just">
              <a:lnSpc>
                <a:spcPct val="150000"/>
              </a:lnSpc>
            </a:pPr>
            <a:endParaRPr lang="en-US" sz="1400" dirty="0"/>
          </a:p>
        </p:txBody>
      </p:sp>
      <p:sp>
        <p:nvSpPr>
          <p:cNvPr id="7" name="TextBox 6">
            <a:extLst>
              <a:ext uri="{FF2B5EF4-FFF2-40B4-BE49-F238E27FC236}">
                <a16:creationId xmlns:a16="http://schemas.microsoft.com/office/drawing/2014/main" id="{81D80A4A-6878-64A9-C649-32C6AAE36F34}"/>
              </a:ext>
            </a:extLst>
          </p:cNvPr>
          <p:cNvSpPr txBox="1"/>
          <p:nvPr/>
        </p:nvSpPr>
        <p:spPr>
          <a:xfrm>
            <a:off x="214006" y="3660997"/>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Test Outcome</a:t>
            </a:r>
          </a:p>
        </p:txBody>
      </p:sp>
      <p:sp>
        <p:nvSpPr>
          <p:cNvPr id="8" name="TextBox 7">
            <a:extLst>
              <a:ext uri="{FF2B5EF4-FFF2-40B4-BE49-F238E27FC236}">
                <a16:creationId xmlns:a16="http://schemas.microsoft.com/office/drawing/2014/main" id="{BF7F8BBE-C3EF-2635-3A1F-A7779504271D}"/>
              </a:ext>
            </a:extLst>
          </p:cNvPr>
          <p:cNvSpPr txBox="1"/>
          <p:nvPr/>
        </p:nvSpPr>
        <p:spPr>
          <a:xfrm>
            <a:off x="6115454" y="3660997"/>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Conclusion</a:t>
            </a:r>
          </a:p>
        </p:txBody>
      </p:sp>
      <p:pic>
        <p:nvPicPr>
          <p:cNvPr id="10" name="Picture 9">
            <a:extLst>
              <a:ext uri="{FF2B5EF4-FFF2-40B4-BE49-F238E27FC236}">
                <a16:creationId xmlns:a16="http://schemas.microsoft.com/office/drawing/2014/main" id="{827FEA5E-0AC0-7B3F-6264-E882C7CBA1AE}"/>
              </a:ext>
            </a:extLst>
          </p:cNvPr>
          <p:cNvPicPr>
            <a:picLocks noChangeAspect="1"/>
          </p:cNvPicPr>
          <p:nvPr/>
        </p:nvPicPr>
        <p:blipFill>
          <a:blip r:embed="rId2"/>
          <a:stretch>
            <a:fillRect/>
          </a:stretch>
        </p:blipFill>
        <p:spPr>
          <a:xfrm>
            <a:off x="214005" y="4036404"/>
            <a:ext cx="5561911" cy="81769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EABCEF7-03A5-628C-2A56-73D056C927FB}"/>
                  </a:ext>
                </a:extLst>
              </p:cNvPr>
              <p:cNvSpPr txBox="1"/>
              <p:nvPr/>
            </p:nvSpPr>
            <p:spPr>
              <a:xfrm>
                <a:off x="6115454" y="4054699"/>
                <a:ext cx="5878750" cy="1734982"/>
              </a:xfrm>
              <a:prstGeom prst="rect">
                <a:avLst/>
              </a:prstGeom>
              <a:noFill/>
              <a:ln>
                <a:solidFill>
                  <a:schemeClr val="bg1">
                    <a:lumMod val="75000"/>
                  </a:schemeClr>
                </a:solidFill>
              </a:ln>
            </p:spPr>
            <p:txBody>
              <a:bodyPr wrap="square" rtlCol="0">
                <a:noAutofit/>
              </a:bodyPr>
              <a:lstStyle/>
              <a:p>
                <a:pPr algn="just">
                  <a:spcBef>
                    <a:spcPts val="200"/>
                  </a:spcBef>
                </a:pPr>
                <a:r>
                  <a:rPr lang="en-US" sz="1400" dirty="0"/>
                  <a:t>For a significance level of </a:t>
                </a:r>
                <a14:m>
                  <m:oMath xmlns:m="http://schemas.openxmlformats.org/officeDocument/2006/math">
                    <m:r>
                      <a:rPr lang="en-US" sz="1400" i="1" smtClean="0">
                        <a:latin typeface="Cambria Math" panose="02040503050406030204" pitchFamily="18" charset="0"/>
                        <a:ea typeface="Cambria Math" panose="02040503050406030204" pitchFamily="18" charset="0"/>
                      </a:rPr>
                      <m:t>𝛼</m:t>
                    </m:r>
                    <m:r>
                      <a:rPr lang="en-US" sz="1400" i="1" smtClean="0">
                        <a:latin typeface="Cambria Math" panose="02040503050406030204" pitchFamily="18" charset="0"/>
                      </a:rPr>
                      <m:t>=</m:t>
                    </m:r>
                    <m:r>
                      <a:rPr lang="en-US" sz="1400" b="0" i="1" smtClean="0">
                        <a:latin typeface="Cambria Math" panose="02040503050406030204" pitchFamily="18" charset="0"/>
                      </a:rPr>
                      <m:t>0.05</m:t>
                    </m:r>
                  </m:oMath>
                </a14:m>
                <a:r>
                  <a:rPr lang="en-US" sz="1400" dirty="0"/>
                  <a:t>, the </a:t>
                </a:r>
                <a14:m>
                  <m:oMath xmlns:m="http://schemas.openxmlformats.org/officeDocument/2006/math">
                    <m:r>
                      <a:rPr lang="en-US" sz="1400" b="0" i="1" smtClean="0">
                        <a:latin typeface="Cambria Math" panose="02040503050406030204" pitchFamily="18" charset="0"/>
                      </a:rPr>
                      <m:t>𝑝</m:t>
                    </m:r>
                    <m:r>
                      <a:rPr lang="en-US" sz="1400" b="0" i="1" smtClean="0">
                        <a:latin typeface="Cambria Math" panose="02040503050406030204" pitchFamily="18" charset="0"/>
                      </a:rPr>
                      <m:t>_</m:t>
                    </m:r>
                    <m:r>
                      <a:rPr lang="en-US" sz="1400" b="0" i="1" smtClean="0">
                        <a:latin typeface="Cambria Math" panose="02040503050406030204" pitchFamily="18" charset="0"/>
                      </a:rPr>
                      <m:t>𝑣𝑎𝑙𝑢𝑒</m:t>
                    </m:r>
                    <m:r>
                      <a:rPr lang="en-US" sz="1400" b="0" i="1" smtClean="0">
                        <a:latin typeface="Cambria Math" panose="02040503050406030204" pitchFamily="18" charset="0"/>
                      </a:rPr>
                      <m:t>&lt;</m:t>
                    </m:r>
                    <m:r>
                      <a:rPr lang="en-US" sz="1400" b="0" i="1" smtClean="0">
                        <a:latin typeface="Cambria Math" panose="02040503050406030204" pitchFamily="18" charset="0"/>
                        <a:ea typeface="Cambria Math" panose="02040503050406030204" pitchFamily="18" charset="0"/>
                      </a:rPr>
                      <m:t>𝛼</m:t>
                    </m:r>
                  </m:oMath>
                </a14:m>
                <a:r>
                  <a:rPr lang="en-US" sz="1400" dirty="0"/>
                  <a:t>, therefore we </a:t>
                </a:r>
                <a:r>
                  <a:rPr lang="en-US" sz="1400" b="1" dirty="0"/>
                  <a:t>reject</a:t>
                </a:r>
                <a:r>
                  <a:rPr lang="en-US" sz="1400" dirty="0"/>
                  <a:t> the Null Hypothesis (</a:t>
                </a:r>
                <a:r>
                  <a:rPr lang="en-US" sz="1400" b="1" dirty="0"/>
                  <a:t>H</a:t>
                </a:r>
                <a:r>
                  <a:rPr lang="en-US" sz="1400" b="1" baseline="-25000" dirty="0"/>
                  <a:t>0</a:t>
                </a:r>
                <a:r>
                  <a:rPr lang="en-US" sz="1400" dirty="0"/>
                  <a:t>).</a:t>
                </a:r>
              </a:p>
              <a:p>
                <a:pPr algn="just">
                  <a:spcBef>
                    <a:spcPts val="200"/>
                  </a:spcBef>
                </a:pPr>
                <a:endParaRPr lang="en-US" sz="1400" dirty="0"/>
              </a:p>
              <a:p>
                <a:pPr algn="just">
                  <a:spcBef>
                    <a:spcPts val="200"/>
                  </a:spcBef>
                </a:pPr>
                <a:r>
                  <a:rPr lang="en-US" sz="1400" b="1" i="1" dirty="0"/>
                  <a:t>Thus, we conclude that one or more treatment group(s) increases the cd4 count significantly more than other treatment group(s), thus the efficacy of that (those) treatment group(s) is better than the others at treating AIDS</a:t>
                </a:r>
              </a:p>
            </p:txBody>
          </p:sp>
        </mc:Choice>
        <mc:Fallback xmlns="">
          <p:sp>
            <p:nvSpPr>
              <p:cNvPr id="11" name="TextBox 10">
                <a:extLst>
                  <a:ext uri="{FF2B5EF4-FFF2-40B4-BE49-F238E27FC236}">
                    <a16:creationId xmlns:a16="http://schemas.microsoft.com/office/drawing/2014/main" id="{9EABCEF7-03A5-628C-2A56-73D056C927FB}"/>
                  </a:ext>
                </a:extLst>
              </p:cNvPr>
              <p:cNvSpPr txBox="1">
                <a:spLocks noRot="1" noChangeAspect="1" noMove="1" noResize="1" noEditPoints="1" noAdjustHandles="1" noChangeArrowheads="1" noChangeShapeType="1" noTextEdit="1"/>
              </p:cNvSpPr>
              <p:nvPr/>
            </p:nvSpPr>
            <p:spPr>
              <a:xfrm>
                <a:off x="6115454" y="4054699"/>
                <a:ext cx="5878750" cy="1734982"/>
              </a:xfrm>
              <a:prstGeom prst="rect">
                <a:avLst/>
              </a:prstGeom>
              <a:blipFill>
                <a:blip r:embed="rId3"/>
                <a:stretch>
                  <a:fillRect l="-207" t="-348" r="-103"/>
                </a:stretch>
              </a:blipFill>
              <a:ln>
                <a:solidFill>
                  <a:schemeClr val="bg1">
                    <a:lumMod val="75000"/>
                  </a:schemeClr>
                </a:solidFill>
              </a:ln>
            </p:spPr>
            <p:txBody>
              <a:bodyPr/>
              <a:lstStyle/>
              <a:p>
                <a:r>
                  <a:rPr lang="en-US">
                    <a:noFill/>
                  </a:rPr>
                  <a:t> </a:t>
                </a:r>
              </a:p>
            </p:txBody>
          </p:sp>
        </mc:Fallback>
      </mc:AlternateContent>
      <p:pic>
        <p:nvPicPr>
          <p:cNvPr id="13" name="Picture 12" descr="A graph of a function&#10;&#10;Description automatically generated">
            <a:extLst>
              <a:ext uri="{FF2B5EF4-FFF2-40B4-BE49-F238E27FC236}">
                <a16:creationId xmlns:a16="http://schemas.microsoft.com/office/drawing/2014/main" id="{40B64F6F-4567-77E9-0A7C-F6C4FF676D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668" y="4868112"/>
            <a:ext cx="4075891" cy="2037946"/>
          </a:xfrm>
          <a:prstGeom prst="rect">
            <a:avLst/>
          </a:prstGeom>
        </p:spPr>
      </p:pic>
    </p:spTree>
    <p:extLst>
      <p:ext uri="{BB962C8B-B14F-4D97-AF65-F5344CB8AC3E}">
        <p14:creationId xmlns:p14="http://schemas.microsoft.com/office/powerpoint/2010/main" val="3851419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8B8BF-B842-D878-988F-AA43302BC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AA9B2-3AE0-58DA-168A-924983D6686D}"/>
              </a:ext>
            </a:extLst>
          </p:cNvPr>
          <p:cNvSpPr>
            <a:spLocks noGrp="1"/>
          </p:cNvSpPr>
          <p:nvPr>
            <p:ph type="title"/>
          </p:nvPr>
        </p:nvSpPr>
        <p:spPr>
          <a:xfrm>
            <a:off x="194552" y="38912"/>
            <a:ext cx="11997447" cy="578458"/>
          </a:xfrm>
        </p:spPr>
        <p:txBody>
          <a:bodyPr>
            <a:normAutofit/>
          </a:bodyPr>
          <a:lstStyle/>
          <a:p>
            <a:r>
              <a:rPr lang="en-US" sz="3200" b="1" dirty="0"/>
              <a:t>Treatment Efficacy Analysis and Findings -  Based on Immunity (1/3)</a:t>
            </a:r>
          </a:p>
        </p:txBody>
      </p:sp>
      <p:sp>
        <p:nvSpPr>
          <p:cNvPr id="3" name="TextBox 2">
            <a:extLst>
              <a:ext uri="{FF2B5EF4-FFF2-40B4-BE49-F238E27FC236}">
                <a16:creationId xmlns:a16="http://schemas.microsoft.com/office/drawing/2014/main" id="{E7E74068-4129-CB4B-514E-8C946781B84E}"/>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Test Setup</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C742D1-4186-2F2B-0E98-2804FAB4430D}"/>
                  </a:ext>
                </a:extLst>
              </p:cNvPr>
              <p:cNvSpPr txBox="1"/>
              <p:nvPr/>
            </p:nvSpPr>
            <p:spPr>
              <a:xfrm>
                <a:off x="214008" y="1050371"/>
                <a:ext cx="11773712" cy="1393873"/>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b="1" dirty="0"/>
                  <a:t>Variables under consideration</a:t>
                </a:r>
                <a:r>
                  <a:rPr lang="en-US" sz="1400" dirty="0"/>
                  <a:t>: Treatment Groups (</a:t>
                </a:r>
                <a:r>
                  <a:rPr lang="en-US" sz="1400" dirty="0" err="1"/>
                  <a:t>trt</a:t>
                </a:r>
                <a:r>
                  <a:rPr lang="en-US" sz="1400" dirty="0"/>
                  <a:t>) vs Difference in Immunity from 20 weeks to the start of the treatment (diff_immunity_cd4_by_cd8)</a:t>
                </a:r>
              </a:p>
              <a:p>
                <a:pPr marL="285750" indent="-285750" algn="just">
                  <a:spcBef>
                    <a:spcPts val="200"/>
                  </a:spcBef>
                  <a:buFont typeface="Arial" panose="020B0604020202020204" pitchFamily="34" charset="0"/>
                  <a:buChar char="•"/>
                </a:pPr>
                <a:r>
                  <a:rPr lang="en-US" sz="1400" b="1" dirty="0"/>
                  <a:t>Variable types</a:t>
                </a:r>
                <a:r>
                  <a:rPr lang="en-US" sz="1400" dirty="0"/>
                  <a:t>: Categorical vs Numerical</a:t>
                </a:r>
              </a:p>
              <a:p>
                <a:pPr marL="285750" indent="-285750" algn="just">
                  <a:spcBef>
                    <a:spcPts val="200"/>
                  </a:spcBef>
                  <a:buFont typeface="Arial" panose="020B0604020202020204" pitchFamily="34" charset="0"/>
                  <a:buChar char="•"/>
                </a:pPr>
                <a:r>
                  <a:rPr lang="en-US" sz="1400" b="1" dirty="0"/>
                  <a:t>Statistical test</a:t>
                </a:r>
                <a:r>
                  <a:rPr lang="en-US" sz="1400" dirty="0"/>
                  <a:t>: ANOVA and F-test (Comparing many means)</a:t>
                </a:r>
              </a:p>
              <a:p>
                <a:pPr marL="285750" indent="-285750" algn="just">
                  <a:spcBef>
                    <a:spcPts val="200"/>
                  </a:spcBef>
                  <a:buFont typeface="Arial" panose="020B0604020202020204" pitchFamily="34" charset="0"/>
                  <a:buChar char="•"/>
                </a:pPr>
                <a:r>
                  <a:rPr lang="en-US" sz="1400" b="1" dirty="0"/>
                  <a:t>Confidence Level: </a:t>
                </a:r>
                <a:r>
                  <a:rPr lang="en-US" sz="1400" dirty="0"/>
                  <a:t>95% (𝛼=0.05)</a:t>
                </a:r>
              </a:p>
              <a:p>
                <a:pPr marL="285750" indent="-285750" algn="just">
                  <a:spcBef>
                    <a:spcPts val="200"/>
                  </a:spcBef>
                  <a:buFont typeface="Arial" panose="020B0604020202020204" pitchFamily="34" charset="0"/>
                  <a:buChar char="•"/>
                </a:pPr>
                <a:r>
                  <a:rPr lang="en-US" sz="1400" dirty="0"/>
                  <a:t>Immunity =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𝑐𝑜𝑢𝑛𝑡</m:t>
                        </m:r>
                        <m:r>
                          <a:rPr lang="en-US" sz="1400" b="0" i="1" smtClean="0">
                            <a:latin typeface="Cambria Math" panose="02040503050406030204" pitchFamily="18" charset="0"/>
                          </a:rPr>
                          <m:t> </m:t>
                        </m:r>
                        <m:r>
                          <a:rPr lang="en-US" sz="1400" b="0" i="1" smtClean="0">
                            <a:latin typeface="Cambria Math" panose="02040503050406030204" pitchFamily="18" charset="0"/>
                          </a:rPr>
                          <m:t>𝑜𝑓</m:t>
                        </m:r>
                        <m:r>
                          <a:rPr lang="en-US" sz="1400" b="0" i="1" smtClean="0">
                            <a:latin typeface="Cambria Math" panose="02040503050406030204" pitchFamily="18" charset="0"/>
                          </a:rPr>
                          <m:t> </m:t>
                        </m:r>
                        <m:r>
                          <a:rPr lang="en-US" sz="1400" b="0" i="1" smtClean="0">
                            <a:latin typeface="Cambria Math" panose="02040503050406030204" pitchFamily="18" charset="0"/>
                          </a:rPr>
                          <m:t>𝐶𝐷</m:t>
                        </m:r>
                        <m:r>
                          <a:rPr lang="en-US" sz="1400" b="0" i="1" smtClean="0">
                            <a:latin typeface="Cambria Math" panose="02040503050406030204" pitchFamily="18" charset="0"/>
                          </a:rPr>
                          <m:t>4 </m:t>
                        </m:r>
                      </m:num>
                      <m:den>
                        <m:r>
                          <a:rPr lang="en-US" sz="1400" b="0" i="1" smtClean="0">
                            <a:latin typeface="Cambria Math" panose="02040503050406030204" pitchFamily="18" charset="0"/>
                          </a:rPr>
                          <m:t>𝑐𝑜𝑢𝑛𝑡</m:t>
                        </m:r>
                        <m:r>
                          <a:rPr lang="en-US" sz="1400" b="0" i="1" smtClean="0">
                            <a:latin typeface="Cambria Math" panose="02040503050406030204" pitchFamily="18" charset="0"/>
                          </a:rPr>
                          <m:t> </m:t>
                        </m:r>
                        <m:r>
                          <a:rPr lang="en-US" sz="1400" b="0" i="1" smtClean="0">
                            <a:latin typeface="Cambria Math" panose="02040503050406030204" pitchFamily="18" charset="0"/>
                          </a:rPr>
                          <m:t>𝑜𝑓</m:t>
                        </m:r>
                        <m:r>
                          <a:rPr lang="en-US" sz="1400" b="0" i="1" smtClean="0">
                            <a:latin typeface="Cambria Math" panose="02040503050406030204" pitchFamily="18" charset="0"/>
                          </a:rPr>
                          <m:t> </m:t>
                        </m:r>
                        <m:r>
                          <a:rPr lang="en-US" sz="1400" b="0" i="1" smtClean="0">
                            <a:latin typeface="Cambria Math" panose="02040503050406030204" pitchFamily="18" charset="0"/>
                          </a:rPr>
                          <m:t>𝐶𝐷</m:t>
                        </m:r>
                        <m:r>
                          <a:rPr lang="en-US" sz="1400" b="0" i="1" smtClean="0">
                            <a:latin typeface="Cambria Math" panose="02040503050406030204" pitchFamily="18" charset="0"/>
                          </a:rPr>
                          <m:t>8</m:t>
                        </m:r>
                      </m:den>
                    </m:f>
                  </m:oMath>
                </a14:m>
                <a:endParaRPr lang="en-US" sz="1400" dirty="0"/>
              </a:p>
            </p:txBody>
          </p:sp>
        </mc:Choice>
        <mc:Fallback xmlns="">
          <p:sp>
            <p:nvSpPr>
              <p:cNvPr id="4" name="TextBox 3">
                <a:extLst>
                  <a:ext uri="{FF2B5EF4-FFF2-40B4-BE49-F238E27FC236}">
                    <a16:creationId xmlns:a16="http://schemas.microsoft.com/office/drawing/2014/main" id="{B0C742D1-4186-2F2B-0E98-2804FAB4430D}"/>
                  </a:ext>
                </a:extLst>
              </p:cNvPr>
              <p:cNvSpPr txBox="1">
                <a:spLocks noRot="1" noChangeAspect="1" noMove="1" noResize="1" noEditPoints="1" noAdjustHandles="1" noChangeArrowheads="1" noChangeShapeType="1" noTextEdit="1"/>
              </p:cNvSpPr>
              <p:nvPr/>
            </p:nvSpPr>
            <p:spPr>
              <a:xfrm>
                <a:off x="214008" y="1050371"/>
                <a:ext cx="11773712" cy="1393873"/>
              </a:xfrm>
              <a:prstGeom prst="rect">
                <a:avLst/>
              </a:prstGeom>
              <a:blipFill>
                <a:blip r:embed="rId2"/>
                <a:stretch>
                  <a:fillRect/>
                </a:stretch>
              </a:blipFill>
              <a:ln>
                <a:solidFill>
                  <a:schemeClr val="bg1">
                    <a:lumMod val="75000"/>
                  </a:schemeClr>
                </a:solidFill>
              </a:ln>
            </p:spPr>
            <p:txBody>
              <a:bodyPr/>
              <a:lstStyle/>
              <a:p>
                <a:r>
                  <a:rPr lang="en-US">
                    <a:noFill/>
                  </a:rPr>
                  <a:t> </a:t>
                </a:r>
              </a:p>
            </p:txBody>
          </p:sp>
        </mc:Fallback>
      </mc:AlternateContent>
      <p:sp>
        <p:nvSpPr>
          <p:cNvPr id="5" name="TextBox 4">
            <a:extLst>
              <a:ext uri="{FF2B5EF4-FFF2-40B4-BE49-F238E27FC236}">
                <a16:creationId xmlns:a16="http://schemas.microsoft.com/office/drawing/2014/main" id="{95EB176E-D35E-AAEB-EC61-21332988E617}"/>
              </a:ext>
            </a:extLst>
          </p:cNvPr>
          <p:cNvSpPr txBox="1"/>
          <p:nvPr/>
        </p:nvSpPr>
        <p:spPr>
          <a:xfrm>
            <a:off x="214008" y="262036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Hypothesis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6D88FBA-30CE-A830-45DF-0469D9B80018}"/>
                  </a:ext>
                </a:extLst>
              </p:cNvPr>
              <p:cNvSpPr txBox="1"/>
              <p:nvPr/>
            </p:nvSpPr>
            <p:spPr>
              <a:xfrm>
                <a:off x="214008" y="2971252"/>
                <a:ext cx="11773712" cy="1744961"/>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dirty="0"/>
                  <a:t>Null Hypothesis</a:t>
                </a:r>
              </a:p>
              <a:p>
                <a:pPr lvl="1" algn="just">
                  <a:spcBef>
                    <a:spcPts val="200"/>
                  </a:spcBef>
                </a:pPr>
                <a:r>
                  <a:rPr lang="en-US" sz="1400" b="1" dirty="0"/>
                  <a:t>H</a:t>
                </a:r>
                <a:r>
                  <a:rPr lang="en-US" sz="1400" b="1" baseline="-25000" dirty="0"/>
                  <a:t>0</a:t>
                </a:r>
                <a:r>
                  <a:rPr lang="en-US" sz="1400" b="1" dirty="0"/>
                  <a:t>:  The average difference in immunity between post 20 ± 5 weeks of treatment and the starting point is identical in all treatment groups. Any observed difference is due to chance. That is,  </a:t>
                </a:r>
                <a14:m>
                  <m:oMath xmlns:m="http://schemas.openxmlformats.org/officeDocument/2006/math">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ea typeface="Cambria Math" panose="02040503050406030204" pitchFamily="18" charset="0"/>
                          </a:rPr>
                          <m:t>𝝁</m:t>
                        </m:r>
                      </m:e>
                      <m:sub>
                        <m:r>
                          <a:rPr lang="en-US" sz="1400" b="1" i="1" smtClean="0">
                            <a:latin typeface="Cambria Math" panose="02040503050406030204" pitchFamily="18" charset="0"/>
                          </a:rPr>
                          <m:t>𝒁𝑫𝑽</m:t>
                        </m:r>
                        <m:r>
                          <a:rPr lang="en-US" sz="1400" b="1" i="1" smtClean="0">
                            <a:latin typeface="Cambria Math" panose="02040503050406030204" pitchFamily="18" charset="0"/>
                          </a:rPr>
                          <m:t> </m:t>
                        </m:r>
                        <m:r>
                          <a:rPr lang="en-US" sz="1400" b="1" i="1" smtClean="0">
                            <a:latin typeface="Cambria Math" panose="02040503050406030204" pitchFamily="18" charset="0"/>
                          </a:rPr>
                          <m:t>𝒐𝒏𝒍𝒚</m:t>
                        </m:r>
                      </m:sub>
                    </m:sSub>
                    <m:r>
                      <a:rPr lang="en-US" sz="1400" b="1" i="1" smtClean="0">
                        <a:latin typeface="Cambria Math" panose="02040503050406030204" pitchFamily="18" charset="0"/>
                        <a:ea typeface="Cambria Math" panose="02040503050406030204" pitchFamily="18" charset="0"/>
                      </a:rPr>
                      <m:t>=</m:t>
                    </m:r>
                  </m:oMath>
                </a14:m>
                <a:r>
                  <a:rPr lang="en-US" sz="1400" b="1" dirty="0"/>
                  <a:t> </a:t>
                </a:r>
                <a14:m>
                  <m:oMath xmlns:m="http://schemas.openxmlformats.org/officeDocument/2006/math">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a:latin typeface="Cambria Math" panose="02040503050406030204" pitchFamily="18" charset="0"/>
                          </a:rPr>
                          <m:t>𝒁𝑫𝑽</m:t>
                        </m:r>
                        <m:r>
                          <a:rPr lang="en-US" sz="1400" b="1" i="1" smtClean="0">
                            <a:latin typeface="Cambria Math" panose="02040503050406030204" pitchFamily="18" charset="0"/>
                          </a:rPr>
                          <m:t>+</m:t>
                        </m:r>
                        <m:r>
                          <a:rPr lang="en-US" sz="1400" b="1" i="1" smtClean="0">
                            <a:latin typeface="Cambria Math" panose="02040503050406030204" pitchFamily="18" charset="0"/>
                          </a:rPr>
                          <m:t>𝒅𝒅𝑰</m:t>
                        </m:r>
                      </m:sub>
                    </m:sSub>
                    <m:r>
                      <a:rPr lang="en-US" sz="1400" b="1" i="1">
                        <a:latin typeface="Cambria Math" panose="02040503050406030204" pitchFamily="18" charset="0"/>
                        <a:ea typeface="Cambria Math" panose="02040503050406030204" pitchFamily="18" charset="0"/>
                      </a:rPr>
                      <m:t>=</m:t>
                    </m:r>
                    <m:r>
                      <m:rPr>
                        <m:nor/>
                      </m:rPr>
                      <a:rPr lang="en-US" sz="1400" b="1" dirty="0"/>
                      <m:t> </m:t>
                    </m:r>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a:latin typeface="Cambria Math" panose="02040503050406030204" pitchFamily="18" charset="0"/>
                          </a:rPr>
                          <m:t>𝒁𝑫𝑽</m:t>
                        </m:r>
                        <m:r>
                          <a:rPr lang="en-US" sz="1400" b="1" i="1" smtClean="0">
                            <a:latin typeface="Cambria Math" panose="02040503050406030204" pitchFamily="18" charset="0"/>
                          </a:rPr>
                          <m:t>+</m:t>
                        </m:r>
                        <m:r>
                          <a:rPr lang="en-US" sz="1400" b="1" i="1" smtClean="0">
                            <a:latin typeface="Cambria Math" panose="02040503050406030204" pitchFamily="18" charset="0"/>
                          </a:rPr>
                          <m:t>𝒁𝒂𝒍</m:t>
                        </m:r>
                      </m:sub>
                    </m:sSub>
                    <m:r>
                      <a:rPr lang="en-US" sz="1400" b="1" i="1">
                        <a:latin typeface="Cambria Math" panose="02040503050406030204" pitchFamily="18" charset="0"/>
                        <a:ea typeface="Cambria Math" panose="02040503050406030204" pitchFamily="18" charset="0"/>
                      </a:rPr>
                      <m:t>=</m:t>
                    </m:r>
                    <m:r>
                      <m:rPr>
                        <m:nor/>
                      </m:rPr>
                      <a:rPr lang="en-US" sz="1400" b="1" dirty="0"/>
                      <m:t> </m:t>
                    </m:r>
                    <m:sSub>
                      <m:sSubPr>
                        <m:ctrlPr>
                          <a:rPr lang="en-US" sz="1400" b="1" i="1">
                            <a:latin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𝝁</m:t>
                        </m:r>
                      </m:e>
                      <m:sub>
                        <m:r>
                          <a:rPr lang="en-US" sz="1400" b="1" i="1" smtClean="0">
                            <a:latin typeface="Cambria Math" panose="02040503050406030204" pitchFamily="18" charset="0"/>
                            <a:ea typeface="Cambria Math" panose="02040503050406030204" pitchFamily="18" charset="0"/>
                          </a:rPr>
                          <m:t>𝒅𝒅𝑰</m:t>
                        </m:r>
                        <m:r>
                          <a:rPr lang="en-US" sz="1400" b="1" i="1" smtClean="0">
                            <a:latin typeface="Cambria Math" panose="02040503050406030204" pitchFamily="18" charset="0"/>
                            <a:ea typeface="Cambria Math" panose="02040503050406030204" pitchFamily="18" charset="0"/>
                          </a:rPr>
                          <m:t> </m:t>
                        </m:r>
                        <m:r>
                          <a:rPr lang="en-US" sz="1400" b="1" i="1" smtClean="0">
                            <a:latin typeface="Cambria Math" panose="02040503050406030204" pitchFamily="18" charset="0"/>
                            <a:ea typeface="Cambria Math" panose="02040503050406030204" pitchFamily="18" charset="0"/>
                          </a:rPr>
                          <m:t>𝒐𝒏𝒍𝒚</m:t>
                        </m:r>
                      </m:sub>
                    </m:sSub>
                  </m:oMath>
                </a14:m>
                <a:endParaRPr lang="en-US" sz="1400" b="1" dirty="0"/>
              </a:p>
              <a:p>
                <a:pPr marL="285750" indent="-285750" algn="just">
                  <a:spcBef>
                    <a:spcPts val="200"/>
                  </a:spcBef>
                  <a:buFont typeface="Arial" panose="020B0604020202020204" pitchFamily="34" charset="0"/>
                  <a:buChar char="•"/>
                </a:pPr>
                <a:r>
                  <a:rPr lang="en-US" sz="1400" dirty="0"/>
                  <a:t>Alternative Hypothesis</a:t>
                </a:r>
              </a:p>
              <a:p>
                <a:pPr lvl="1" algn="just">
                  <a:spcBef>
                    <a:spcPts val="200"/>
                  </a:spcBef>
                </a:pPr>
                <a:r>
                  <a:rPr lang="en-US" sz="1400" b="1" dirty="0"/>
                  <a:t>H</a:t>
                </a:r>
                <a:r>
                  <a:rPr lang="en-US" sz="1400" b="1" baseline="-25000" dirty="0"/>
                  <a:t>A</a:t>
                </a:r>
                <a:r>
                  <a:rPr lang="en-US" sz="1400" b="1" dirty="0"/>
                  <a:t>: The average difference in immunity between post 20 ± 5 weeks of treatment and the starting point is NOT  identical in all treatment groups. That is, one or more treatment group(s) increases the cd4 count significantly more than other treatment group(s), thus the efficacy of the treatment group(s) is better</a:t>
                </a:r>
              </a:p>
            </p:txBody>
          </p:sp>
        </mc:Choice>
        <mc:Fallback xmlns="">
          <p:sp>
            <p:nvSpPr>
              <p:cNvPr id="6" name="TextBox 5">
                <a:extLst>
                  <a:ext uri="{FF2B5EF4-FFF2-40B4-BE49-F238E27FC236}">
                    <a16:creationId xmlns:a16="http://schemas.microsoft.com/office/drawing/2014/main" id="{C6D88FBA-30CE-A830-45DF-0469D9B80018}"/>
                  </a:ext>
                </a:extLst>
              </p:cNvPr>
              <p:cNvSpPr txBox="1">
                <a:spLocks noRot="1" noChangeAspect="1" noMove="1" noResize="1" noEditPoints="1" noAdjustHandles="1" noChangeArrowheads="1" noChangeShapeType="1" noTextEdit="1"/>
              </p:cNvSpPr>
              <p:nvPr/>
            </p:nvSpPr>
            <p:spPr>
              <a:xfrm>
                <a:off x="214008" y="2971252"/>
                <a:ext cx="11773712" cy="1744961"/>
              </a:xfrm>
              <a:prstGeom prst="rect">
                <a:avLst/>
              </a:prstGeom>
              <a:blipFill>
                <a:blip r:embed="rId3"/>
                <a:stretch>
                  <a:fillRect r="-103"/>
                </a:stretch>
              </a:blipFill>
              <a:ln>
                <a:solidFill>
                  <a:schemeClr val="bg1">
                    <a:lumMod val="75000"/>
                  </a:schemeClr>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AD55B0F0-8038-4BE9-8737-595EA23B0986}"/>
              </a:ext>
            </a:extLst>
          </p:cNvPr>
          <p:cNvSpPr txBox="1"/>
          <p:nvPr/>
        </p:nvSpPr>
        <p:spPr>
          <a:xfrm>
            <a:off x="214006" y="482470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Analysis</a:t>
            </a:r>
          </a:p>
        </p:txBody>
      </p:sp>
      <p:pic>
        <p:nvPicPr>
          <p:cNvPr id="9" name="Picture 8">
            <a:extLst>
              <a:ext uri="{FF2B5EF4-FFF2-40B4-BE49-F238E27FC236}">
                <a16:creationId xmlns:a16="http://schemas.microsoft.com/office/drawing/2014/main" id="{9B4F5050-7D0D-B90A-3A3C-A9C33BA55F07}"/>
              </a:ext>
            </a:extLst>
          </p:cNvPr>
          <p:cNvPicPr>
            <a:picLocks noChangeAspect="1"/>
          </p:cNvPicPr>
          <p:nvPr/>
        </p:nvPicPr>
        <p:blipFill>
          <a:blip r:embed="rId4"/>
          <a:stretch>
            <a:fillRect/>
          </a:stretch>
        </p:blipFill>
        <p:spPr>
          <a:xfrm>
            <a:off x="210312" y="5202936"/>
            <a:ext cx="6753870" cy="1591056"/>
          </a:xfrm>
          <a:prstGeom prst="rect">
            <a:avLst/>
          </a:prstGeom>
        </p:spPr>
      </p:pic>
    </p:spTree>
    <p:extLst>
      <p:ext uri="{BB962C8B-B14F-4D97-AF65-F5344CB8AC3E}">
        <p14:creationId xmlns:p14="http://schemas.microsoft.com/office/powerpoint/2010/main" val="1801918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43E20-399B-3F9C-C145-8BA0925D2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3CC5A-F4E5-3A17-DEF6-7F7D776CD2DC}"/>
              </a:ext>
            </a:extLst>
          </p:cNvPr>
          <p:cNvSpPr>
            <a:spLocks noGrp="1"/>
          </p:cNvSpPr>
          <p:nvPr>
            <p:ph type="title"/>
          </p:nvPr>
        </p:nvSpPr>
        <p:spPr>
          <a:xfrm>
            <a:off x="194552" y="38912"/>
            <a:ext cx="11997447" cy="578458"/>
          </a:xfrm>
        </p:spPr>
        <p:txBody>
          <a:bodyPr>
            <a:normAutofit/>
          </a:bodyPr>
          <a:lstStyle/>
          <a:p>
            <a:r>
              <a:rPr lang="en-US" sz="3200" b="1" dirty="0"/>
              <a:t>Treatment Efficacy Analysis and Findings -  Based on Immunity (3/3)</a:t>
            </a:r>
          </a:p>
        </p:txBody>
      </p:sp>
      <p:sp>
        <p:nvSpPr>
          <p:cNvPr id="5" name="TextBox 4">
            <a:extLst>
              <a:ext uri="{FF2B5EF4-FFF2-40B4-BE49-F238E27FC236}">
                <a16:creationId xmlns:a16="http://schemas.microsoft.com/office/drawing/2014/main" id="{BBAE5FAD-8FC7-D7C4-D2D1-750B2670270C}"/>
              </a:ext>
            </a:extLst>
          </p:cNvPr>
          <p:cNvSpPr txBox="1"/>
          <p:nvPr/>
        </p:nvSpPr>
        <p:spPr>
          <a:xfrm>
            <a:off x="214006" y="706154"/>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Conditions</a:t>
            </a:r>
          </a:p>
        </p:txBody>
      </p:sp>
      <p:sp>
        <p:nvSpPr>
          <p:cNvPr id="6" name="TextBox 5">
            <a:extLst>
              <a:ext uri="{FF2B5EF4-FFF2-40B4-BE49-F238E27FC236}">
                <a16:creationId xmlns:a16="http://schemas.microsoft.com/office/drawing/2014/main" id="{31E0FD6D-402E-A76E-E10B-52B869BA51A2}"/>
              </a:ext>
            </a:extLst>
          </p:cNvPr>
          <p:cNvSpPr txBox="1"/>
          <p:nvPr/>
        </p:nvSpPr>
        <p:spPr>
          <a:xfrm>
            <a:off x="214008" y="1050371"/>
            <a:ext cx="11773712" cy="2694777"/>
          </a:xfrm>
          <a:prstGeom prst="rect">
            <a:avLst/>
          </a:prstGeom>
          <a:noFill/>
          <a:ln>
            <a:solidFill>
              <a:schemeClr val="bg1">
                <a:lumMod val="75000"/>
              </a:schemeClr>
            </a:solidFill>
          </a:ln>
        </p:spPr>
        <p:txBody>
          <a:bodyPr wrap="square" rtlCol="0">
            <a:noAutofit/>
          </a:bodyPr>
          <a:lstStyle/>
          <a:p>
            <a:pPr marL="285750" indent="-285750" algn="just">
              <a:spcBef>
                <a:spcPts val="200"/>
              </a:spcBef>
              <a:buFont typeface="Arial" panose="020B0604020202020204" pitchFamily="34" charset="0"/>
              <a:buChar char="•"/>
            </a:pPr>
            <a:r>
              <a:rPr lang="en-US" sz="1400" u="sng" dirty="0"/>
              <a:t>The observations should be independent within and across groups</a:t>
            </a:r>
          </a:p>
          <a:p>
            <a:pPr lvl="1" algn="just">
              <a:spcBef>
                <a:spcPts val="200"/>
              </a:spcBef>
            </a:pPr>
            <a:r>
              <a:rPr lang="en-US" sz="1400" dirty="0"/>
              <a:t>The data is from a double blinded controlled experiment. The patients inter and intra treatment groups are independent of each other</a:t>
            </a:r>
          </a:p>
          <a:p>
            <a:pPr marL="285750" indent="-285750" algn="just">
              <a:spcBef>
                <a:spcPts val="200"/>
              </a:spcBef>
              <a:buFont typeface="Arial" panose="020B0604020202020204" pitchFamily="34" charset="0"/>
              <a:buChar char="•"/>
            </a:pPr>
            <a:r>
              <a:rPr lang="en-US" sz="1400" u="sng" dirty="0"/>
              <a:t>The data within each group are nearly normal </a:t>
            </a:r>
          </a:p>
          <a:p>
            <a:pPr lvl="1" algn="just">
              <a:spcBef>
                <a:spcPts val="200"/>
              </a:spcBef>
            </a:pPr>
            <a:r>
              <a:rPr lang="en-US" sz="1400" dirty="0"/>
              <a:t>As seen in the histogram, the data within each group are nearly normal. But for the ZDV + </a:t>
            </a:r>
            <a:r>
              <a:rPr lang="en-US" sz="1400" dirty="0" err="1"/>
              <a:t>ddI</a:t>
            </a:r>
            <a:r>
              <a:rPr lang="en-US" sz="1400" dirty="0"/>
              <a:t> treatment group, we can see some extreme outliers in the box plot as well as the histogram</a:t>
            </a:r>
          </a:p>
          <a:p>
            <a:pPr marL="285750" indent="-285750" algn="just">
              <a:spcBef>
                <a:spcPts val="200"/>
              </a:spcBef>
              <a:buFont typeface="Arial" panose="020B0604020202020204" pitchFamily="34" charset="0"/>
              <a:buChar char="•"/>
            </a:pPr>
            <a:r>
              <a:rPr lang="en-US" sz="1400" u="sng" dirty="0"/>
              <a:t>The variability across the groups is about equal</a:t>
            </a:r>
          </a:p>
          <a:p>
            <a:pPr lvl="1" algn="just">
              <a:spcBef>
                <a:spcPts val="200"/>
              </a:spcBef>
            </a:pPr>
            <a:r>
              <a:rPr lang="en-US" sz="1400" dirty="0"/>
              <a:t>As seen in the box-plot and the summary table, the variance of ZDV + </a:t>
            </a:r>
            <a:r>
              <a:rPr lang="en-US" sz="1400" dirty="0" err="1"/>
              <a:t>ddI</a:t>
            </a:r>
            <a:r>
              <a:rPr lang="en-US" sz="1400" dirty="0"/>
              <a:t> is a very different than the rest of the groups</a:t>
            </a:r>
          </a:p>
          <a:p>
            <a:pPr lvl="1" algn="just">
              <a:spcBef>
                <a:spcPts val="200"/>
              </a:spcBef>
            </a:pPr>
            <a:r>
              <a:rPr lang="en-US" sz="1400" dirty="0"/>
              <a:t>Though we have enough sample size, but due to the presence of extreme outliers, we need to investigate the case and understand why such outcomes came by.</a:t>
            </a:r>
          </a:p>
          <a:p>
            <a:pPr lvl="1" algn="just">
              <a:spcBef>
                <a:spcPts val="200"/>
              </a:spcBef>
            </a:pPr>
            <a:r>
              <a:rPr lang="en-US" sz="1400" dirty="0"/>
              <a:t>The constant variance condition is not met</a:t>
            </a:r>
          </a:p>
          <a:p>
            <a:pPr lvl="1" indent="-457200" algn="just">
              <a:spcBef>
                <a:spcPts val="200"/>
              </a:spcBef>
            </a:pPr>
            <a:r>
              <a:rPr lang="en-US" sz="1400" dirty="0"/>
              <a:t>All the conditions for the ANOVA and F-test for comparing many means are NOT satisfied.</a:t>
            </a:r>
          </a:p>
          <a:p>
            <a:pPr lvl="1" algn="just">
              <a:lnSpc>
                <a:spcPct val="150000"/>
              </a:lnSpc>
            </a:pPr>
            <a:endParaRPr lang="en-US" sz="1400" dirty="0"/>
          </a:p>
        </p:txBody>
      </p:sp>
      <p:sp>
        <p:nvSpPr>
          <p:cNvPr id="7" name="TextBox 6">
            <a:extLst>
              <a:ext uri="{FF2B5EF4-FFF2-40B4-BE49-F238E27FC236}">
                <a16:creationId xmlns:a16="http://schemas.microsoft.com/office/drawing/2014/main" id="{2C24914E-475B-0943-5094-AF0DF3804ECB}"/>
              </a:ext>
            </a:extLst>
          </p:cNvPr>
          <p:cNvSpPr txBox="1"/>
          <p:nvPr/>
        </p:nvSpPr>
        <p:spPr>
          <a:xfrm>
            <a:off x="191309" y="3913916"/>
            <a:ext cx="3310128" cy="338554"/>
          </a:xfrm>
          <a:prstGeom prst="rect">
            <a:avLst/>
          </a:prstGeom>
          <a:solidFill>
            <a:schemeClr val="tx1">
              <a:lumMod val="75000"/>
              <a:lumOff val="25000"/>
            </a:schemeClr>
          </a:solidFill>
        </p:spPr>
        <p:txBody>
          <a:bodyPr wrap="square" rtlCol="0" anchor="ctr">
            <a:spAutoFit/>
          </a:bodyPr>
          <a:lstStyle/>
          <a:p>
            <a:r>
              <a:rPr lang="en-US" sz="1600" dirty="0">
                <a:solidFill>
                  <a:schemeClr val="bg1"/>
                </a:solidFill>
              </a:rPr>
              <a:t>Conclusion</a:t>
            </a:r>
          </a:p>
        </p:txBody>
      </p:sp>
      <p:sp>
        <p:nvSpPr>
          <p:cNvPr id="11" name="TextBox 10">
            <a:extLst>
              <a:ext uri="{FF2B5EF4-FFF2-40B4-BE49-F238E27FC236}">
                <a16:creationId xmlns:a16="http://schemas.microsoft.com/office/drawing/2014/main" id="{391D0537-49EA-BF3D-0C93-BA1B68BBCA76}"/>
              </a:ext>
            </a:extLst>
          </p:cNvPr>
          <p:cNvSpPr txBox="1"/>
          <p:nvPr/>
        </p:nvSpPr>
        <p:spPr>
          <a:xfrm>
            <a:off x="194552" y="4307593"/>
            <a:ext cx="11193295" cy="468688"/>
          </a:xfrm>
          <a:prstGeom prst="rect">
            <a:avLst/>
          </a:prstGeom>
          <a:noFill/>
          <a:ln>
            <a:solidFill>
              <a:schemeClr val="bg1">
                <a:lumMod val="75000"/>
              </a:schemeClr>
            </a:solidFill>
          </a:ln>
        </p:spPr>
        <p:txBody>
          <a:bodyPr wrap="square" rtlCol="0">
            <a:noAutofit/>
          </a:bodyPr>
          <a:lstStyle/>
          <a:p>
            <a:pPr algn="just">
              <a:spcBef>
                <a:spcPts val="200"/>
              </a:spcBef>
            </a:pPr>
            <a:r>
              <a:rPr lang="en-US" sz="1400" b="1" i="1" dirty="0"/>
              <a:t>Since the conditions are not satisfied, we cannot perform the ANOVA F-test on Immunity variable across the treatment groups </a:t>
            </a:r>
          </a:p>
        </p:txBody>
      </p:sp>
    </p:spTree>
    <p:extLst>
      <p:ext uri="{BB962C8B-B14F-4D97-AF65-F5344CB8AC3E}">
        <p14:creationId xmlns:p14="http://schemas.microsoft.com/office/powerpoint/2010/main" val="1585312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87762D505127F41A30E6C8B00D4689E" ma:contentTypeVersion="4" ma:contentTypeDescription="Create a new document." ma:contentTypeScope="" ma:versionID="18918c2d32809278ab126ed64d81d908">
  <xsd:schema xmlns:xsd="http://www.w3.org/2001/XMLSchema" xmlns:xs="http://www.w3.org/2001/XMLSchema" xmlns:p="http://schemas.microsoft.com/office/2006/metadata/properties" xmlns:ns2="81f6c1e1-41a4-435e-8984-72c9b327a67a" targetNamespace="http://schemas.microsoft.com/office/2006/metadata/properties" ma:root="true" ma:fieldsID="d31cd5d05b962b76d271ca5d0edb425b" ns2:_="">
    <xsd:import namespace="81f6c1e1-41a4-435e-8984-72c9b327a67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f6c1e1-41a4-435e-8984-72c9b327a6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6BC6A89-2F62-41D4-B40F-DC9D6E23886E}">
  <ds:schemaRefs>
    <ds:schemaRef ds:uri="http://schemas.microsoft.com/sharepoint/v3/contenttype/forms"/>
  </ds:schemaRefs>
</ds:datastoreItem>
</file>

<file path=customXml/itemProps2.xml><?xml version="1.0" encoding="utf-8"?>
<ds:datastoreItem xmlns:ds="http://schemas.openxmlformats.org/officeDocument/2006/customXml" ds:itemID="{A4CDDB2F-559B-4AAF-A54C-F6F8BC14DAA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C6E4B02-0499-49A9-855A-F7B5EBFBDC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f6c1e1-41a4-435e-8984-72c9b327a6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presentation</Template>
  <TotalTime>680</TotalTime>
  <Words>2007</Words>
  <Application>Microsoft Office PowerPoint</Application>
  <PresentationFormat>Widescreen</PresentationFormat>
  <Paragraphs>260</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Franklin Gothic Book</vt:lpstr>
      <vt:lpstr>Office Theme</vt:lpstr>
      <vt:lpstr>Study on Effect and efficacy of different AIDS treatment protocols</vt:lpstr>
      <vt:lpstr>Agenda</vt:lpstr>
      <vt:lpstr>Introduction</vt:lpstr>
      <vt:lpstr>Understanding the Data and Context(1/3)</vt:lpstr>
      <vt:lpstr>Understanding the Data and Context (2/3)</vt:lpstr>
      <vt:lpstr>Understanding the Data and Context (3/3)</vt:lpstr>
      <vt:lpstr>Process of the Study</vt:lpstr>
      <vt:lpstr>Treatment Efficacy Analysis and Findings -  Based on survival outcome (1/2)</vt:lpstr>
      <vt:lpstr>Treatment Efficacy Analysis and Findings -  Based on survival outcome (2/2)</vt:lpstr>
      <vt:lpstr>Treatment Efficacy Analysis and Findings -  Based on c4 count (1/3)</vt:lpstr>
      <vt:lpstr>Treatment Efficacy Analysis and Findings -  Based on c4 count (2/3)</vt:lpstr>
      <vt:lpstr>Treatment Efficacy Analysis and Findings -  Based on c4 count (3/3)</vt:lpstr>
      <vt:lpstr>Treatment Efficacy Analysis and Findings -  Based on Immunity (1/3)</vt:lpstr>
      <vt:lpstr>Treatment Efficacy Analysis and Findings -  Based on Immunity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Aswin karthik Panneer selvam [student]</dc:creator>
  <cp:lastModifiedBy>Lasya Nandagiri [student]</cp:lastModifiedBy>
  <cp:revision>104</cp:revision>
  <dcterms:created xsi:type="dcterms:W3CDTF">2024-12-01T00:37:07Z</dcterms:created>
  <dcterms:modified xsi:type="dcterms:W3CDTF">2026-01-05T05:13:03Z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0x010100A87762D505127F41A30E6C8B00D4689E</vt:lpwstr>
  </property>
</Properties>
</file>